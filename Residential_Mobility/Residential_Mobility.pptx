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7C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0" d="100"/>
          <a:sy n="60" d="100"/>
        </p:scale>
        <p:origin x="2558" y="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7EC8D9-1815-4537-9A60-A6626DC17F45}" type="datetimeFigureOut">
              <a:rPr lang="en-US" smtClean="0"/>
              <a:t>3/18/2019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2EA5CF-9BAC-4601-A606-5CF8A1961BA8}" type="slidenum">
              <a:rPr lang="en-US" smtClean="0"/>
              <a:t>‹#›</a:t>
            </a:fld>
            <a:endParaRPr lang="en-US"/>
          </a:p>
        </p:txBody>
      </p:sp>
    </p:spTree>
    <p:extLst>
      <p:ext uri="{BB962C8B-B14F-4D97-AF65-F5344CB8AC3E}">
        <p14:creationId xmlns:p14="http://schemas.microsoft.com/office/powerpoint/2010/main" val="29539862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7EC8D9-1815-4537-9A60-A6626DC17F45}" type="datetimeFigureOut">
              <a:rPr lang="en-US" smtClean="0"/>
              <a:t>3/18/2019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2EA5CF-9BAC-4601-A606-5CF8A1961BA8}" type="slidenum">
              <a:rPr lang="en-US" smtClean="0"/>
              <a:t>‹#›</a:t>
            </a:fld>
            <a:endParaRPr lang="en-US"/>
          </a:p>
        </p:txBody>
      </p:sp>
    </p:spTree>
    <p:extLst>
      <p:ext uri="{BB962C8B-B14F-4D97-AF65-F5344CB8AC3E}">
        <p14:creationId xmlns:p14="http://schemas.microsoft.com/office/powerpoint/2010/main" val="2802731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7EC8D9-1815-4537-9A60-A6626DC17F45}" type="datetimeFigureOut">
              <a:rPr lang="en-US" smtClean="0"/>
              <a:t>3/18/2019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2EA5CF-9BAC-4601-A606-5CF8A1961BA8}" type="slidenum">
              <a:rPr lang="en-US" smtClean="0"/>
              <a:t>‹#›</a:t>
            </a:fld>
            <a:endParaRPr lang="en-US"/>
          </a:p>
        </p:txBody>
      </p:sp>
    </p:spTree>
    <p:extLst>
      <p:ext uri="{BB962C8B-B14F-4D97-AF65-F5344CB8AC3E}">
        <p14:creationId xmlns:p14="http://schemas.microsoft.com/office/powerpoint/2010/main" val="1701728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7EC8D9-1815-4537-9A60-A6626DC17F45}" type="datetimeFigureOut">
              <a:rPr lang="en-US" smtClean="0"/>
              <a:t>3/18/2019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2EA5CF-9BAC-4601-A606-5CF8A1961BA8}" type="slidenum">
              <a:rPr lang="en-US" smtClean="0"/>
              <a:t>‹#›</a:t>
            </a:fld>
            <a:endParaRPr lang="en-US"/>
          </a:p>
        </p:txBody>
      </p:sp>
    </p:spTree>
    <p:extLst>
      <p:ext uri="{BB962C8B-B14F-4D97-AF65-F5344CB8AC3E}">
        <p14:creationId xmlns:p14="http://schemas.microsoft.com/office/powerpoint/2010/main" val="6695468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7EC8D9-1815-4537-9A60-A6626DC17F45}" type="datetimeFigureOut">
              <a:rPr lang="en-US" smtClean="0"/>
              <a:t>3/18/2019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B2EA5CF-9BAC-4601-A606-5CF8A1961BA8}" type="slidenum">
              <a:rPr lang="en-US" smtClean="0"/>
              <a:t>‹#›</a:t>
            </a:fld>
            <a:endParaRPr lang="en-US"/>
          </a:p>
        </p:txBody>
      </p:sp>
    </p:spTree>
    <p:extLst>
      <p:ext uri="{BB962C8B-B14F-4D97-AF65-F5344CB8AC3E}">
        <p14:creationId xmlns:p14="http://schemas.microsoft.com/office/powerpoint/2010/main" val="42447638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7EC8D9-1815-4537-9A60-A6626DC17F45}" type="datetimeFigureOut">
              <a:rPr lang="en-US" smtClean="0"/>
              <a:t>3/18/2019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B2EA5CF-9BAC-4601-A606-5CF8A1961BA8}" type="slidenum">
              <a:rPr lang="en-US" smtClean="0"/>
              <a:t>‹#›</a:t>
            </a:fld>
            <a:endParaRPr lang="en-US"/>
          </a:p>
        </p:txBody>
      </p:sp>
    </p:spTree>
    <p:extLst>
      <p:ext uri="{BB962C8B-B14F-4D97-AF65-F5344CB8AC3E}">
        <p14:creationId xmlns:p14="http://schemas.microsoft.com/office/powerpoint/2010/main" val="23712554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7EC8D9-1815-4537-9A60-A6626DC17F45}" type="datetimeFigureOut">
              <a:rPr lang="en-US" smtClean="0"/>
              <a:t>3/18/2019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B2EA5CF-9BAC-4601-A606-5CF8A1961BA8}" type="slidenum">
              <a:rPr lang="en-US" smtClean="0"/>
              <a:t>‹#›</a:t>
            </a:fld>
            <a:endParaRPr lang="en-US"/>
          </a:p>
        </p:txBody>
      </p:sp>
    </p:spTree>
    <p:extLst>
      <p:ext uri="{BB962C8B-B14F-4D97-AF65-F5344CB8AC3E}">
        <p14:creationId xmlns:p14="http://schemas.microsoft.com/office/powerpoint/2010/main" val="26948437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B67EC8D9-1815-4537-9A60-A6626DC17F45}" type="datetimeFigureOut">
              <a:rPr lang="en-US" smtClean="0"/>
              <a:t>3/18/2019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2EA5CF-9BAC-4601-A606-5CF8A1961BA8}" type="slidenum">
              <a:rPr lang="en-US" smtClean="0"/>
              <a:t>‹#›</a:t>
            </a:fld>
            <a:endParaRPr lang="en-US"/>
          </a:p>
        </p:txBody>
      </p:sp>
    </p:spTree>
    <p:extLst>
      <p:ext uri="{BB962C8B-B14F-4D97-AF65-F5344CB8AC3E}">
        <p14:creationId xmlns:p14="http://schemas.microsoft.com/office/powerpoint/2010/main" val="1449635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B67EC8D9-1815-4537-9A60-A6626DC17F45}" type="datetimeFigureOut">
              <a:rPr lang="en-US" smtClean="0"/>
              <a:t>3/18/2019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2EA5CF-9BAC-4601-A606-5CF8A1961BA8}" type="slidenum">
              <a:rPr lang="en-US" smtClean="0"/>
              <a:t>‹#›</a:t>
            </a:fld>
            <a:endParaRPr lang="en-US"/>
          </a:p>
        </p:txBody>
      </p:sp>
    </p:spTree>
    <p:extLst>
      <p:ext uri="{BB962C8B-B14F-4D97-AF65-F5344CB8AC3E}">
        <p14:creationId xmlns:p14="http://schemas.microsoft.com/office/powerpoint/2010/main" val="2571471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7EC8D9-1815-4537-9A60-A6626DC17F45}" type="datetimeFigureOut">
              <a:rPr lang="en-US" smtClean="0"/>
              <a:t>3/18/2019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2EA5CF-9BAC-4601-A606-5CF8A1961BA8}" type="slidenum">
              <a:rPr lang="en-US" smtClean="0"/>
              <a:t>‹#›</a:t>
            </a:fld>
            <a:endParaRPr lang="en-US"/>
          </a:p>
        </p:txBody>
      </p:sp>
    </p:spTree>
    <p:extLst>
      <p:ext uri="{BB962C8B-B14F-4D97-AF65-F5344CB8AC3E}">
        <p14:creationId xmlns:p14="http://schemas.microsoft.com/office/powerpoint/2010/main" val="40443415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7EC8D9-1815-4537-9A60-A6626DC17F45}" type="datetimeFigureOut">
              <a:rPr lang="en-US" smtClean="0"/>
              <a:t>3/18/2019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2EA5CF-9BAC-4601-A606-5CF8A1961BA8}" type="slidenum">
              <a:rPr lang="en-US" smtClean="0"/>
              <a:t>‹#›</a:t>
            </a:fld>
            <a:endParaRPr lang="en-US"/>
          </a:p>
        </p:txBody>
      </p:sp>
    </p:spTree>
    <p:extLst>
      <p:ext uri="{BB962C8B-B14F-4D97-AF65-F5344CB8AC3E}">
        <p14:creationId xmlns:p14="http://schemas.microsoft.com/office/powerpoint/2010/main" val="18678264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B67EC8D9-1815-4537-9A60-A6626DC17F45}" type="datetimeFigureOut">
              <a:rPr lang="en-US" smtClean="0"/>
              <a:t>3/18/2019</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AB2EA5CF-9BAC-4601-A606-5CF8A1961BA8}" type="slidenum">
              <a:rPr lang="en-US" smtClean="0"/>
              <a:t>‹#›</a:t>
            </a:fld>
            <a:endParaRPr lang="en-US"/>
          </a:p>
        </p:txBody>
      </p:sp>
    </p:spTree>
    <p:extLst>
      <p:ext uri="{BB962C8B-B14F-4D97-AF65-F5344CB8AC3E}">
        <p14:creationId xmlns:p14="http://schemas.microsoft.com/office/powerpoint/2010/main" val="354052468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18F858-DDD8-4646-9CA9-CA9DC6BF5BFB}"/>
              </a:ext>
            </a:extLst>
          </p:cNvPr>
          <p:cNvSpPr txBox="1"/>
          <p:nvPr/>
        </p:nvSpPr>
        <p:spPr>
          <a:xfrm>
            <a:off x="190500" y="127000"/>
            <a:ext cx="5295900" cy="1919426"/>
          </a:xfrm>
          <a:prstGeom prst="rect">
            <a:avLst/>
          </a:prstGeom>
          <a:noFill/>
          <a:ln>
            <a:noFill/>
          </a:ln>
        </p:spPr>
        <p:txBody>
          <a:bodyPr wrap="square" rtlCol="0">
            <a:noAutofit/>
          </a:bodyPr>
          <a:lstStyle/>
          <a:p>
            <a:pPr>
              <a:spcAft>
                <a:spcPts val="600"/>
              </a:spcAft>
            </a:pPr>
            <a:r>
              <a:rPr lang="en-GB" altLang="zh-CN" sz="3600" b="1" dirty="0">
                <a:solidFill>
                  <a:schemeClr val="accent1">
                    <a:lumMod val="50000"/>
                  </a:schemeClr>
                </a:solidFill>
              </a:rPr>
              <a:t>Addressing Population Movements Issues:</a:t>
            </a:r>
          </a:p>
          <a:p>
            <a:r>
              <a:rPr lang="en-GB" altLang="zh-CN" sz="2000" dirty="0">
                <a:solidFill>
                  <a:schemeClr val="accent1">
                    <a:lumMod val="75000"/>
                  </a:schemeClr>
                </a:solidFill>
              </a:rPr>
              <a:t>A Probe into the Temporal Pattern of Residential Mobility</a:t>
            </a:r>
          </a:p>
        </p:txBody>
      </p:sp>
      <p:sp>
        <p:nvSpPr>
          <p:cNvPr id="3" name="TextBox 2">
            <a:extLst>
              <a:ext uri="{FF2B5EF4-FFF2-40B4-BE49-F238E27FC236}">
                <a16:creationId xmlns:a16="http://schemas.microsoft.com/office/drawing/2014/main" id="{1B6F0F57-AA95-414E-822A-07BBEB9B6E36}"/>
              </a:ext>
            </a:extLst>
          </p:cNvPr>
          <p:cNvSpPr txBox="1"/>
          <p:nvPr/>
        </p:nvSpPr>
        <p:spPr>
          <a:xfrm>
            <a:off x="190500" y="2223397"/>
            <a:ext cx="3238500" cy="6924973"/>
          </a:xfrm>
          <a:prstGeom prst="rect">
            <a:avLst/>
          </a:prstGeom>
          <a:noFill/>
        </p:spPr>
        <p:txBody>
          <a:bodyPr wrap="square" rtlCol="0">
            <a:spAutoFit/>
          </a:bodyPr>
          <a:lstStyle/>
          <a:p>
            <a:pPr>
              <a:spcAft>
                <a:spcPts val="600"/>
              </a:spcAft>
            </a:pPr>
            <a:r>
              <a:rPr lang="en-US" sz="2000" b="1" dirty="0">
                <a:solidFill>
                  <a:schemeClr val="accent1">
                    <a:lumMod val="75000"/>
                  </a:schemeClr>
                </a:solidFill>
              </a:rPr>
              <a:t>About the research</a:t>
            </a:r>
          </a:p>
          <a:p>
            <a:pPr>
              <a:spcAft>
                <a:spcPts val="600"/>
              </a:spcAft>
            </a:pPr>
            <a:r>
              <a:rPr lang="en-GB" dirty="0"/>
              <a:t>Residential mobility is seen as an important urban evaluating indicators. Increased population mobility can not only bring more </a:t>
            </a:r>
            <a:r>
              <a:rPr lang="en-US" altLang="zh-CN" dirty="0"/>
              <a:t>labor force </a:t>
            </a:r>
            <a:r>
              <a:rPr lang="en-GB" dirty="0"/>
              <a:t>but on the other hand cause disharmony </a:t>
            </a:r>
            <a:r>
              <a:rPr lang="en-US" altLang="zh-CN" dirty="0"/>
              <a:t>such as</a:t>
            </a:r>
            <a:r>
              <a:rPr lang="en-GB" dirty="0"/>
              <a:t> crime to a urban system. Therefore, it is particularly critical to clarify the change pattern of residential mobility. Because the potential threaten and business need to be predicated through this mobility model in advance .</a:t>
            </a:r>
          </a:p>
          <a:p>
            <a:pPr>
              <a:spcAft>
                <a:spcPts val="600"/>
              </a:spcAft>
            </a:pPr>
            <a:r>
              <a:rPr lang="en-GB" dirty="0"/>
              <a:t>In this research, NHS central register from 2005 to 2006 and 2017 to 2018 are compared and analysed to present both the general trend of residential mobility over the past 10 years and some interesting findings from regional and occupational aspects.</a:t>
            </a:r>
            <a:endParaRPr lang="en-US" dirty="0"/>
          </a:p>
        </p:txBody>
      </p:sp>
      <p:sp>
        <p:nvSpPr>
          <p:cNvPr id="8" name="TextBox 7">
            <a:extLst>
              <a:ext uri="{FF2B5EF4-FFF2-40B4-BE49-F238E27FC236}">
                <a16:creationId xmlns:a16="http://schemas.microsoft.com/office/drawing/2014/main" id="{3038253D-1DB4-4A28-B399-DED818EBB11F}"/>
              </a:ext>
            </a:extLst>
          </p:cNvPr>
          <p:cNvSpPr txBox="1"/>
          <p:nvPr/>
        </p:nvSpPr>
        <p:spPr>
          <a:xfrm>
            <a:off x="3429000" y="2223397"/>
            <a:ext cx="3238500" cy="7355860"/>
          </a:xfrm>
          <a:prstGeom prst="rect">
            <a:avLst/>
          </a:prstGeom>
          <a:solidFill>
            <a:srgbClr val="FF7C80">
              <a:alpha val="60000"/>
            </a:srgbClr>
          </a:solidFill>
        </p:spPr>
        <p:txBody>
          <a:bodyPr wrap="square" rtlCol="0" anchor="t">
            <a:spAutoFit/>
          </a:bodyPr>
          <a:lstStyle/>
          <a:p>
            <a:pPr>
              <a:spcAft>
                <a:spcPts val="600"/>
              </a:spcAft>
            </a:pPr>
            <a:r>
              <a:rPr lang="en-US" sz="2000" b="1" dirty="0">
                <a:solidFill>
                  <a:schemeClr val="accent1">
                    <a:lumMod val="75000"/>
                  </a:schemeClr>
                </a:solidFill>
              </a:rPr>
              <a:t>Key findings</a:t>
            </a:r>
          </a:p>
          <a:p>
            <a:pPr>
              <a:spcAft>
                <a:spcPts val="600"/>
              </a:spcAft>
              <a:buSzPct val="200000"/>
            </a:pPr>
            <a:r>
              <a:rPr lang="en-US" dirty="0"/>
              <a:t>● </a:t>
            </a:r>
            <a:r>
              <a:rPr lang="en-GB" dirty="0"/>
              <a:t>The </a:t>
            </a:r>
            <a:r>
              <a:rPr lang="en-US" altLang="zh-CN" dirty="0"/>
              <a:t>Residential mobility in UK </a:t>
            </a:r>
            <a:r>
              <a:rPr lang="en-GB" dirty="0"/>
              <a:t>did show a slight downward trend from 10.03% to 9.83% between 2005 and 2018.</a:t>
            </a:r>
            <a:r>
              <a:rPr lang="zh-CN" altLang="en-US" dirty="0"/>
              <a:t> </a:t>
            </a:r>
            <a:endParaRPr lang="en-US" altLang="zh-CN" dirty="0"/>
          </a:p>
          <a:p>
            <a:pPr>
              <a:spcAft>
                <a:spcPts val="600"/>
              </a:spcAft>
              <a:buSzPct val="200000"/>
            </a:pPr>
            <a:r>
              <a:rPr lang="en-US" dirty="0"/>
              <a:t>● </a:t>
            </a:r>
            <a:r>
              <a:rPr lang="en-GB" dirty="0"/>
              <a:t>North Ireland and London are the regions with the lowest and highest floating population proportion in a decade respectively. The residential mobility rate in North Ireland accounted for 7.6% at the beginning and ended at 7.4%, while it took up 12.6% and decreased to 11.1% in London.</a:t>
            </a:r>
            <a:endParaRPr lang="en-US" dirty="0"/>
          </a:p>
          <a:p>
            <a:pPr>
              <a:spcAft>
                <a:spcPts val="600"/>
              </a:spcAft>
              <a:buSzPct val="200000"/>
            </a:pPr>
            <a:r>
              <a:rPr lang="en-US" dirty="0"/>
              <a:t>● </a:t>
            </a:r>
            <a:r>
              <a:rPr lang="en-GB" altLang="zh-CN" dirty="0"/>
              <a:t>Unmarried people were more inclined to be settled than before. Their floating population rate has dropped by 0.4% (reached at 11.6%) in 10 years.</a:t>
            </a:r>
          </a:p>
          <a:p>
            <a:pPr>
              <a:spcAft>
                <a:spcPts val="600"/>
              </a:spcAft>
              <a:buSzPct val="200000"/>
            </a:pPr>
            <a:r>
              <a:rPr lang="en-GB" dirty="0"/>
              <a:t>● Both residential mobility rates of unemployed and small employers which stabilized in the range 7.3% to 7.5% and dropped from 8% to 7.3%</a:t>
            </a:r>
            <a:endParaRPr lang="en-GB" altLang="zh-CN" dirty="0"/>
          </a:p>
        </p:txBody>
      </p:sp>
      <p:pic>
        <p:nvPicPr>
          <p:cNvPr id="10" name="Picture 9">
            <a:extLst>
              <a:ext uri="{FF2B5EF4-FFF2-40B4-BE49-F238E27FC236}">
                <a16:creationId xmlns:a16="http://schemas.microsoft.com/office/drawing/2014/main" id="{8C8C43EB-2DDE-48A5-BBCD-8BD55B3B60A5}"/>
              </a:ext>
            </a:extLst>
          </p:cNvPr>
          <p:cNvPicPr>
            <a:picLocks noChangeAspect="1"/>
          </p:cNvPicPr>
          <p:nvPr/>
        </p:nvPicPr>
        <p:blipFill>
          <a:blip r:embed="rId2"/>
          <a:stretch>
            <a:fillRect/>
          </a:stretch>
        </p:blipFill>
        <p:spPr>
          <a:xfrm>
            <a:off x="0" y="9701353"/>
            <a:ext cx="6858000" cy="153847"/>
          </a:xfrm>
          <a:prstGeom prst="rect">
            <a:avLst/>
          </a:prstGeom>
        </p:spPr>
      </p:pic>
    </p:spTree>
    <p:extLst>
      <p:ext uri="{BB962C8B-B14F-4D97-AF65-F5344CB8AC3E}">
        <p14:creationId xmlns:p14="http://schemas.microsoft.com/office/powerpoint/2010/main" val="35722053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2E2B5DD-AC55-4DF2-BA5F-24D08675959B}"/>
              </a:ext>
            </a:extLst>
          </p:cNvPr>
          <p:cNvSpPr txBox="1"/>
          <p:nvPr/>
        </p:nvSpPr>
        <p:spPr>
          <a:xfrm>
            <a:off x="190500" y="192225"/>
            <a:ext cx="6477000" cy="1277273"/>
          </a:xfrm>
          <a:prstGeom prst="rect">
            <a:avLst/>
          </a:prstGeom>
          <a:solidFill>
            <a:srgbClr val="FF7C80">
              <a:alpha val="60000"/>
            </a:srgbClr>
          </a:solidFill>
        </p:spPr>
        <p:txBody>
          <a:bodyPr wrap="square" rtlCol="0" anchor="t">
            <a:spAutoFit/>
          </a:bodyPr>
          <a:lstStyle/>
          <a:p>
            <a:pPr>
              <a:spcAft>
                <a:spcPts val="600"/>
              </a:spcAft>
            </a:pPr>
            <a:r>
              <a:rPr lang="en-GB" dirty="0"/>
              <a:t>respectively are much smaller than that of other occupations</a:t>
            </a:r>
          </a:p>
          <a:p>
            <a:r>
              <a:rPr lang="en-GB" dirty="0"/>
              <a:t>● The socio-economic subgroup with the largest proportions of the floating population (10.8% in 2005 and 10.9% in 2018) has always been the routine occupations.</a:t>
            </a:r>
          </a:p>
        </p:txBody>
      </p:sp>
      <p:sp>
        <p:nvSpPr>
          <p:cNvPr id="6" name="TextBox 5">
            <a:extLst>
              <a:ext uri="{FF2B5EF4-FFF2-40B4-BE49-F238E27FC236}">
                <a16:creationId xmlns:a16="http://schemas.microsoft.com/office/drawing/2014/main" id="{BBCACCC5-42DD-4FD5-9CCE-7C0986CAF3AB}"/>
              </a:ext>
            </a:extLst>
          </p:cNvPr>
          <p:cNvSpPr txBox="1"/>
          <p:nvPr/>
        </p:nvSpPr>
        <p:spPr>
          <a:xfrm>
            <a:off x="190500" y="1547640"/>
            <a:ext cx="6477000" cy="3123932"/>
          </a:xfrm>
          <a:prstGeom prst="rect">
            <a:avLst/>
          </a:prstGeom>
          <a:noFill/>
        </p:spPr>
        <p:txBody>
          <a:bodyPr wrap="square" rtlCol="0">
            <a:spAutoFit/>
          </a:bodyPr>
          <a:lstStyle/>
          <a:p>
            <a:pPr>
              <a:spcAft>
                <a:spcPts val="600"/>
              </a:spcAft>
            </a:pPr>
            <a:r>
              <a:rPr lang="en-US" sz="2000" b="1" dirty="0">
                <a:solidFill>
                  <a:schemeClr val="accent1">
                    <a:lumMod val="75000"/>
                  </a:schemeClr>
                </a:solidFill>
              </a:rPr>
              <a:t>Policy implications</a:t>
            </a:r>
          </a:p>
          <a:p>
            <a:pPr>
              <a:spcAft>
                <a:spcPts val="600"/>
              </a:spcAft>
            </a:pPr>
            <a:r>
              <a:rPr lang="en-US" dirty="0"/>
              <a:t>●</a:t>
            </a:r>
            <a:r>
              <a:rPr lang="en-GB" altLang="zh-CN" dirty="0"/>
              <a:t>In the context of residential mobility decline, a more accommodative immigration policy such as reducing taxes on foreign buyers should be developed.</a:t>
            </a:r>
          </a:p>
          <a:p>
            <a:pPr>
              <a:spcAft>
                <a:spcPts val="600"/>
              </a:spcAft>
            </a:pPr>
            <a:r>
              <a:rPr lang="en-GB" dirty="0"/>
              <a:t>● </a:t>
            </a:r>
            <a:r>
              <a:rPr lang="en-GB" altLang="zh-CN" dirty="0"/>
              <a:t>The residential possibility of the married couple are higher than those who still stay single. In order to retain these inflowing labour, the policies encouraging marriage may help.</a:t>
            </a:r>
          </a:p>
          <a:p>
            <a:pPr>
              <a:spcAft>
                <a:spcPts val="600"/>
              </a:spcAft>
            </a:pPr>
            <a:r>
              <a:rPr lang="en-US" dirty="0"/>
              <a:t>● </a:t>
            </a:r>
            <a:r>
              <a:rPr lang="en-GB" altLang="zh-CN" dirty="0"/>
              <a:t>In order to promote residential mobility and gain economic benefits from it</a:t>
            </a:r>
            <a:r>
              <a:rPr lang="en-GB" altLang="zh-CN"/>
              <a:t>, companies </a:t>
            </a:r>
            <a:r>
              <a:rPr lang="en-GB" altLang="zh-CN" dirty="0"/>
              <a:t>can provide more routine occupations to attract migrant workers.</a:t>
            </a:r>
            <a:endParaRPr lang="en-US" altLang="zh-CN" dirty="0"/>
          </a:p>
        </p:txBody>
      </p:sp>
      <p:pic>
        <p:nvPicPr>
          <p:cNvPr id="7" name="Picture 6">
            <a:extLst>
              <a:ext uri="{FF2B5EF4-FFF2-40B4-BE49-F238E27FC236}">
                <a16:creationId xmlns:a16="http://schemas.microsoft.com/office/drawing/2014/main" id="{79E81A15-E7BC-4BBE-897E-3F8A617A0E84}"/>
              </a:ext>
            </a:extLst>
          </p:cNvPr>
          <p:cNvPicPr>
            <a:picLocks noChangeAspect="1"/>
          </p:cNvPicPr>
          <p:nvPr/>
        </p:nvPicPr>
        <p:blipFill>
          <a:blip r:embed="rId2"/>
          <a:stretch>
            <a:fillRect/>
          </a:stretch>
        </p:blipFill>
        <p:spPr>
          <a:xfrm>
            <a:off x="0" y="9701075"/>
            <a:ext cx="6858000" cy="153847"/>
          </a:xfrm>
          <a:prstGeom prst="rect">
            <a:avLst/>
          </a:prstGeom>
        </p:spPr>
      </p:pic>
      <p:sp>
        <p:nvSpPr>
          <p:cNvPr id="8" name="Rectangle 7">
            <a:extLst>
              <a:ext uri="{FF2B5EF4-FFF2-40B4-BE49-F238E27FC236}">
                <a16:creationId xmlns:a16="http://schemas.microsoft.com/office/drawing/2014/main" id="{EA276EB0-22A7-4DF6-869B-778F29618904}"/>
              </a:ext>
            </a:extLst>
          </p:cNvPr>
          <p:cNvSpPr/>
          <p:nvPr/>
        </p:nvSpPr>
        <p:spPr>
          <a:xfrm>
            <a:off x="99328" y="7192629"/>
            <a:ext cx="6568172" cy="2846933"/>
          </a:xfrm>
          <a:prstGeom prst="rect">
            <a:avLst/>
          </a:prstGeom>
        </p:spPr>
        <p:txBody>
          <a:bodyPr wrap="square">
            <a:spAutoFit/>
          </a:bodyPr>
          <a:lstStyle/>
          <a:p>
            <a:pPr>
              <a:spcAft>
                <a:spcPts val="600"/>
              </a:spcAft>
            </a:pPr>
            <a:r>
              <a:rPr lang="en-US" sz="2000" b="1" dirty="0">
                <a:solidFill>
                  <a:schemeClr val="accent1">
                    <a:lumMod val="75000"/>
                  </a:schemeClr>
                </a:solidFill>
              </a:rPr>
              <a:t>Key references and resources</a:t>
            </a:r>
          </a:p>
          <a:p>
            <a:pPr>
              <a:spcAft>
                <a:spcPts val="600"/>
              </a:spcAft>
            </a:pPr>
            <a:r>
              <a:rPr lang="en-GB" dirty="0"/>
              <a:t>● </a:t>
            </a:r>
            <a:r>
              <a:rPr lang="en-US" dirty="0"/>
              <a:t>Cooke, T. J. (2011) ‘It is not Just the Economy: Declining Migration and the Rise of Secular Rootedness’, </a:t>
            </a:r>
            <a:r>
              <a:rPr lang="en-US" i="1" dirty="0"/>
              <a:t>Population, Space and Place</a:t>
            </a:r>
            <a:r>
              <a:rPr lang="en-US" dirty="0"/>
              <a:t>, 17(3), pp. 193–203. </a:t>
            </a:r>
            <a:r>
              <a:rPr lang="en-US" dirty="0" err="1"/>
              <a:t>doi</a:t>
            </a:r>
            <a:r>
              <a:rPr lang="en-US" dirty="0"/>
              <a:t>: 10.1002/psp.670.</a:t>
            </a:r>
          </a:p>
          <a:p>
            <a:pPr>
              <a:spcAft>
                <a:spcPts val="600"/>
              </a:spcAft>
            </a:pPr>
            <a:r>
              <a:rPr lang="en-GB" dirty="0"/>
              <a:t>● </a:t>
            </a:r>
            <a:r>
              <a:rPr lang="en-US" dirty="0"/>
              <a:t>Bell, M. </a:t>
            </a:r>
            <a:r>
              <a:rPr lang="en-US" i="1" dirty="0"/>
              <a:t>et al.</a:t>
            </a:r>
            <a:r>
              <a:rPr lang="en-US" dirty="0"/>
              <a:t> (2015) ‘Internal Migration and Development: Comparing Migration Intensities Around the World’, </a:t>
            </a:r>
            <a:r>
              <a:rPr lang="en-US" i="1" dirty="0"/>
              <a:t>Population and Development Review</a:t>
            </a:r>
            <a:r>
              <a:rPr lang="en-US" dirty="0"/>
              <a:t>, 41(1), pp. 33–58. </a:t>
            </a:r>
            <a:r>
              <a:rPr lang="en-US" dirty="0" err="1"/>
              <a:t>doi</a:t>
            </a:r>
            <a:r>
              <a:rPr lang="en-US" dirty="0"/>
              <a:t>: 10.1111/j.1728-4457.2015.00025.x.</a:t>
            </a:r>
          </a:p>
          <a:p>
            <a:pPr>
              <a:spcAft>
                <a:spcPts val="600"/>
              </a:spcAft>
            </a:pPr>
            <a:endParaRPr lang="en-US" dirty="0"/>
          </a:p>
        </p:txBody>
      </p:sp>
    </p:spTree>
    <p:extLst>
      <p:ext uri="{BB962C8B-B14F-4D97-AF65-F5344CB8AC3E}">
        <p14:creationId xmlns:p14="http://schemas.microsoft.com/office/powerpoint/2010/main" val="37410343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1381</TotalTime>
  <Words>484</Words>
  <Application>Microsoft Office PowerPoint</Application>
  <PresentationFormat>A4 Paper (210x297 mm)</PresentationFormat>
  <Paragraphs>19</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等线</vt:lpstr>
      <vt:lpstr>Arial</vt:lpstr>
      <vt:lpstr>Calibri</vt:lpstr>
      <vt:lpstr>Calibri Light</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Luo, Tianyu</dc:creator>
  <cp:lastModifiedBy>Luo, Tianyu</cp:lastModifiedBy>
  <cp:revision>69</cp:revision>
  <dcterms:created xsi:type="dcterms:W3CDTF">2018-11-18T17:59:15Z</dcterms:created>
  <dcterms:modified xsi:type="dcterms:W3CDTF">2019-03-18T14:05:16Z</dcterms:modified>
</cp:coreProperties>
</file>