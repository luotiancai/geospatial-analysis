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260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76477E-F3E3-4BD6-A497-86A34D06F21A}" type="datetimeFigureOut">
              <a:rPr lang="en-US" smtClean="0"/>
              <a:t>3/21/2019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917B56-4DBB-4BA4-9EF9-6E9A2A4D5210}" type="slidenum">
              <a:rPr lang="en-US" smtClean="0"/>
              <a:t>‹#›</a:t>
            </a:fld>
            <a:endParaRPr lang="en-US"/>
          </a:p>
        </p:txBody>
      </p:sp>
    </p:spTree>
    <p:extLst>
      <p:ext uri="{BB962C8B-B14F-4D97-AF65-F5344CB8AC3E}">
        <p14:creationId xmlns:p14="http://schemas.microsoft.com/office/powerpoint/2010/main" val="717818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76477E-F3E3-4BD6-A497-86A34D06F21A}" type="datetimeFigureOut">
              <a:rPr lang="en-US" smtClean="0"/>
              <a:t>3/21/2019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917B56-4DBB-4BA4-9EF9-6E9A2A4D5210}" type="slidenum">
              <a:rPr lang="en-US" smtClean="0"/>
              <a:t>‹#›</a:t>
            </a:fld>
            <a:endParaRPr lang="en-US"/>
          </a:p>
        </p:txBody>
      </p:sp>
    </p:spTree>
    <p:extLst>
      <p:ext uri="{BB962C8B-B14F-4D97-AF65-F5344CB8AC3E}">
        <p14:creationId xmlns:p14="http://schemas.microsoft.com/office/powerpoint/2010/main" val="3698985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76477E-F3E3-4BD6-A497-86A34D06F21A}" type="datetimeFigureOut">
              <a:rPr lang="en-US" smtClean="0"/>
              <a:t>3/21/2019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917B56-4DBB-4BA4-9EF9-6E9A2A4D5210}" type="slidenum">
              <a:rPr lang="en-US" smtClean="0"/>
              <a:t>‹#›</a:t>
            </a:fld>
            <a:endParaRPr lang="en-US"/>
          </a:p>
        </p:txBody>
      </p:sp>
    </p:spTree>
    <p:extLst>
      <p:ext uri="{BB962C8B-B14F-4D97-AF65-F5344CB8AC3E}">
        <p14:creationId xmlns:p14="http://schemas.microsoft.com/office/powerpoint/2010/main" val="2598880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76477E-F3E3-4BD6-A497-86A34D06F21A}" type="datetimeFigureOut">
              <a:rPr lang="en-US" smtClean="0"/>
              <a:t>3/21/2019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917B56-4DBB-4BA4-9EF9-6E9A2A4D5210}" type="slidenum">
              <a:rPr lang="en-US" smtClean="0"/>
              <a:t>‹#›</a:t>
            </a:fld>
            <a:endParaRPr lang="en-US"/>
          </a:p>
        </p:txBody>
      </p:sp>
    </p:spTree>
    <p:extLst>
      <p:ext uri="{BB962C8B-B14F-4D97-AF65-F5344CB8AC3E}">
        <p14:creationId xmlns:p14="http://schemas.microsoft.com/office/powerpoint/2010/main" val="3501952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76477E-F3E3-4BD6-A497-86A34D06F21A}" type="datetimeFigureOut">
              <a:rPr lang="en-US" smtClean="0"/>
              <a:t>3/21/2019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917B56-4DBB-4BA4-9EF9-6E9A2A4D5210}" type="slidenum">
              <a:rPr lang="en-US" smtClean="0"/>
              <a:t>‹#›</a:t>
            </a:fld>
            <a:endParaRPr lang="en-US"/>
          </a:p>
        </p:txBody>
      </p:sp>
    </p:spTree>
    <p:extLst>
      <p:ext uri="{BB962C8B-B14F-4D97-AF65-F5344CB8AC3E}">
        <p14:creationId xmlns:p14="http://schemas.microsoft.com/office/powerpoint/2010/main" val="2736395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76477E-F3E3-4BD6-A497-86A34D06F21A}" type="datetimeFigureOut">
              <a:rPr lang="en-US" smtClean="0"/>
              <a:t>3/21/2019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917B56-4DBB-4BA4-9EF9-6E9A2A4D5210}" type="slidenum">
              <a:rPr lang="en-US" smtClean="0"/>
              <a:t>‹#›</a:t>
            </a:fld>
            <a:endParaRPr lang="en-US"/>
          </a:p>
        </p:txBody>
      </p:sp>
    </p:spTree>
    <p:extLst>
      <p:ext uri="{BB962C8B-B14F-4D97-AF65-F5344CB8AC3E}">
        <p14:creationId xmlns:p14="http://schemas.microsoft.com/office/powerpoint/2010/main" val="3669769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76477E-F3E3-4BD6-A497-86A34D06F21A}" type="datetimeFigureOut">
              <a:rPr lang="en-US" smtClean="0"/>
              <a:t>3/21/2019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917B56-4DBB-4BA4-9EF9-6E9A2A4D5210}" type="slidenum">
              <a:rPr lang="en-US" smtClean="0"/>
              <a:t>‹#›</a:t>
            </a:fld>
            <a:endParaRPr lang="en-US"/>
          </a:p>
        </p:txBody>
      </p:sp>
    </p:spTree>
    <p:extLst>
      <p:ext uri="{BB962C8B-B14F-4D97-AF65-F5344CB8AC3E}">
        <p14:creationId xmlns:p14="http://schemas.microsoft.com/office/powerpoint/2010/main" val="2570112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7776477E-F3E3-4BD6-A497-86A34D06F21A}" type="datetimeFigureOut">
              <a:rPr lang="en-US" smtClean="0"/>
              <a:t>3/21/2019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917B56-4DBB-4BA4-9EF9-6E9A2A4D5210}" type="slidenum">
              <a:rPr lang="en-US" smtClean="0"/>
              <a:t>‹#›</a:t>
            </a:fld>
            <a:endParaRPr lang="en-US"/>
          </a:p>
        </p:txBody>
      </p:sp>
    </p:spTree>
    <p:extLst>
      <p:ext uri="{BB962C8B-B14F-4D97-AF65-F5344CB8AC3E}">
        <p14:creationId xmlns:p14="http://schemas.microsoft.com/office/powerpoint/2010/main" val="2986773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7776477E-F3E3-4BD6-A497-86A34D06F21A}" type="datetimeFigureOut">
              <a:rPr lang="en-US" smtClean="0"/>
              <a:t>3/21/2019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917B56-4DBB-4BA4-9EF9-6E9A2A4D5210}" type="slidenum">
              <a:rPr lang="en-US" smtClean="0"/>
              <a:t>‹#›</a:t>
            </a:fld>
            <a:endParaRPr lang="en-US"/>
          </a:p>
        </p:txBody>
      </p:sp>
    </p:spTree>
    <p:extLst>
      <p:ext uri="{BB962C8B-B14F-4D97-AF65-F5344CB8AC3E}">
        <p14:creationId xmlns:p14="http://schemas.microsoft.com/office/powerpoint/2010/main" val="2533643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76477E-F3E3-4BD6-A497-86A34D06F21A}" type="datetimeFigureOut">
              <a:rPr lang="en-US" smtClean="0"/>
              <a:t>3/21/2019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917B56-4DBB-4BA4-9EF9-6E9A2A4D5210}" type="slidenum">
              <a:rPr lang="en-US" smtClean="0"/>
              <a:t>‹#›</a:t>
            </a:fld>
            <a:endParaRPr lang="en-US"/>
          </a:p>
        </p:txBody>
      </p:sp>
    </p:spTree>
    <p:extLst>
      <p:ext uri="{BB962C8B-B14F-4D97-AF65-F5344CB8AC3E}">
        <p14:creationId xmlns:p14="http://schemas.microsoft.com/office/powerpoint/2010/main" val="68730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76477E-F3E3-4BD6-A497-86A34D06F21A}" type="datetimeFigureOut">
              <a:rPr lang="en-US" smtClean="0"/>
              <a:t>3/21/2019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917B56-4DBB-4BA4-9EF9-6E9A2A4D5210}" type="slidenum">
              <a:rPr lang="en-US" smtClean="0"/>
              <a:t>‹#›</a:t>
            </a:fld>
            <a:endParaRPr lang="en-US"/>
          </a:p>
        </p:txBody>
      </p:sp>
    </p:spTree>
    <p:extLst>
      <p:ext uri="{BB962C8B-B14F-4D97-AF65-F5344CB8AC3E}">
        <p14:creationId xmlns:p14="http://schemas.microsoft.com/office/powerpoint/2010/main" val="2426187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7776477E-F3E3-4BD6-A497-86A34D06F21A}" type="datetimeFigureOut">
              <a:rPr lang="en-US" smtClean="0"/>
              <a:t>3/21/2019</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42917B56-4DBB-4BA4-9EF9-6E9A2A4D5210}" type="slidenum">
              <a:rPr lang="en-US" smtClean="0"/>
              <a:t>‹#›</a:t>
            </a:fld>
            <a:endParaRPr lang="en-US"/>
          </a:p>
        </p:txBody>
      </p:sp>
    </p:spTree>
    <p:extLst>
      <p:ext uri="{BB962C8B-B14F-4D97-AF65-F5344CB8AC3E}">
        <p14:creationId xmlns:p14="http://schemas.microsoft.com/office/powerpoint/2010/main" val="31582716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4D3A73-D2E5-4795-9987-B9E2F275461D}"/>
              </a:ext>
            </a:extLst>
          </p:cNvPr>
          <p:cNvSpPr txBox="1"/>
          <p:nvPr/>
        </p:nvSpPr>
        <p:spPr>
          <a:xfrm>
            <a:off x="242047" y="282388"/>
            <a:ext cx="5378824" cy="1892826"/>
          </a:xfrm>
          <a:prstGeom prst="rect">
            <a:avLst/>
          </a:prstGeom>
          <a:noFill/>
        </p:spPr>
        <p:txBody>
          <a:bodyPr wrap="square" rtlCol="0">
            <a:spAutoFit/>
          </a:bodyPr>
          <a:lstStyle/>
          <a:p>
            <a:pPr>
              <a:spcAft>
                <a:spcPts val="600"/>
              </a:spcAft>
            </a:pPr>
            <a:r>
              <a:rPr lang="en-US" sz="3600" dirty="0">
                <a:solidFill>
                  <a:schemeClr val="accent1">
                    <a:lumMod val="50000"/>
                  </a:schemeClr>
                </a:solidFill>
              </a:rPr>
              <a:t>Residential Segregation in Integration Area:</a:t>
            </a:r>
          </a:p>
          <a:p>
            <a:pPr>
              <a:spcAft>
                <a:spcPts val="600"/>
              </a:spcAft>
            </a:pPr>
            <a:r>
              <a:rPr lang="en-US" altLang="zh-CN" sz="2000" dirty="0">
                <a:solidFill>
                  <a:schemeClr val="accent1">
                    <a:lumMod val="75000"/>
                  </a:schemeClr>
                </a:solidFill>
              </a:rPr>
              <a:t>The Evaluate of Integration Area With Respect to Ethicality and Social Class</a:t>
            </a:r>
            <a:endParaRPr lang="en-US" sz="2000" dirty="0">
              <a:solidFill>
                <a:schemeClr val="accent1">
                  <a:lumMod val="75000"/>
                </a:schemeClr>
              </a:solidFill>
            </a:endParaRPr>
          </a:p>
        </p:txBody>
      </p:sp>
      <p:pic>
        <p:nvPicPr>
          <p:cNvPr id="6" name="Picture 5">
            <a:extLst>
              <a:ext uri="{FF2B5EF4-FFF2-40B4-BE49-F238E27FC236}">
                <a16:creationId xmlns:a16="http://schemas.microsoft.com/office/drawing/2014/main" id="{407EB0FF-6B9F-4AFD-B193-419A424F4606}"/>
              </a:ext>
            </a:extLst>
          </p:cNvPr>
          <p:cNvPicPr>
            <a:picLocks noChangeAspect="1"/>
          </p:cNvPicPr>
          <p:nvPr/>
        </p:nvPicPr>
        <p:blipFill>
          <a:blip r:embed="rId2"/>
          <a:stretch>
            <a:fillRect/>
          </a:stretch>
        </p:blipFill>
        <p:spPr>
          <a:xfrm>
            <a:off x="0" y="9701353"/>
            <a:ext cx="6858000" cy="153847"/>
          </a:xfrm>
          <a:prstGeom prst="rect">
            <a:avLst/>
          </a:prstGeom>
        </p:spPr>
      </p:pic>
      <p:sp>
        <p:nvSpPr>
          <p:cNvPr id="7" name="TextBox 6">
            <a:extLst>
              <a:ext uri="{FF2B5EF4-FFF2-40B4-BE49-F238E27FC236}">
                <a16:creationId xmlns:a16="http://schemas.microsoft.com/office/drawing/2014/main" id="{C1DC67BC-243D-4E2A-91AB-DB884DD09972}"/>
              </a:ext>
            </a:extLst>
          </p:cNvPr>
          <p:cNvSpPr txBox="1"/>
          <p:nvPr/>
        </p:nvSpPr>
        <p:spPr>
          <a:xfrm>
            <a:off x="242047" y="2339788"/>
            <a:ext cx="3186953" cy="6370975"/>
          </a:xfrm>
          <a:prstGeom prst="rect">
            <a:avLst/>
          </a:prstGeom>
          <a:noFill/>
        </p:spPr>
        <p:txBody>
          <a:bodyPr wrap="square" rtlCol="0">
            <a:spAutoFit/>
          </a:bodyPr>
          <a:lstStyle/>
          <a:p>
            <a:pPr>
              <a:spcAft>
                <a:spcPts val="600"/>
              </a:spcAft>
            </a:pPr>
            <a:r>
              <a:rPr lang="en-US" sz="2000" b="1" dirty="0">
                <a:solidFill>
                  <a:schemeClr val="accent1">
                    <a:lumMod val="75000"/>
                  </a:schemeClr>
                </a:solidFill>
              </a:rPr>
              <a:t>About the research</a:t>
            </a:r>
          </a:p>
          <a:p>
            <a:pPr>
              <a:spcAft>
                <a:spcPts val="600"/>
              </a:spcAft>
            </a:pPr>
            <a:r>
              <a:rPr lang="en-GB" altLang="zh-CN" dirty="0"/>
              <a:t>Many European governments have been working hard to create the “mixed communities”, as the integrated community is considered a promising approach to the population placement. However, the implementation of the integration strategy in respect of ethnicity or socio-economic groups is worth being contemplated .</a:t>
            </a:r>
          </a:p>
          <a:p>
            <a:pPr>
              <a:spcAft>
                <a:spcPts val="600"/>
              </a:spcAft>
            </a:pPr>
            <a:r>
              <a:rPr lang="en-GB" altLang="zh-CN" dirty="0"/>
              <a:t>This study assess the current status of residential isolation in Bradford from these two aspects to figure out their impact on residential segregation. In which, the race is divided into British whites and other races; the social class is differentiated by income.</a:t>
            </a:r>
          </a:p>
        </p:txBody>
      </p:sp>
      <p:sp>
        <p:nvSpPr>
          <p:cNvPr id="8" name="TextBox 7">
            <a:extLst>
              <a:ext uri="{FF2B5EF4-FFF2-40B4-BE49-F238E27FC236}">
                <a16:creationId xmlns:a16="http://schemas.microsoft.com/office/drawing/2014/main" id="{4E72A13C-4290-40B1-AEDE-62EFC9E04646}"/>
              </a:ext>
            </a:extLst>
          </p:cNvPr>
          <p:cNvSpPr txBox="1"/>
          <p:nvPr/>
        </p:nvSpPr>
        <p:spPr>
          <a:xfrm>
            <a:off x="3429000" y="2342259"/>
            <a:ext cx="3186953" cy="7001917"/>
          </a:xfrm>
          <a:prstGeom prst="rect">
            <a:avLst/>
          </a:prstGeom>
          <a:solidFill>
            <a:srgbClr val="FF5050">
              <a:alpha val="60000"/>
            </a:srgbClr>
          </a:solidFill>
        </p:spPr>
        <p:txBody>
          <a:bodyPr wrap="square" rtlCol="0">
            <a:spAutoFit/>
          </a:bodyPr>
          <a:lstStyle/>
          <a:p>
            <a:pPr>
              <a:spcAft>
                <a:spcPts val="600"/>
              </a:spcAft>
            </a:pPr>
            <a:r>
              <a:rPr lang="en-US" sz="2000" b="1" dirty="0">
                <a:solidFill>
                  <a:schemeClr val="accent1">
                    <a:lumMod val="75000"/>
                  </a:schemeClr>
                </a:solidFill>
              </a:rPr>
              <a:t>Key findings</a:t>
            </a:r>
          </a:p>
          <a:p>
            <a:pPr>
              <a:spcAft>
                <a:spcPts val="600"/>
              </a:spcAft>
            </a:pPr>
            <a:r>
              <a:rPr lang="en-US" b="1" dirty="0"/>
              <a:t>● </a:t>
            </a:r>
            <a:r>
              <a:rPr lang="en-US" dirty="0"/>
              <a:t>The index of dissimilarity shows that the residential segregation between British white and other ethnic group in the Bradford has reached 66% which is almost twice as high as that between high-income and low-income groups(only 37.3%)</a:t>
            </a:r>
            <a:endParaRPr lang="en-US" altLang="zh-CN" dirty="0"/>
          </a:p>
          <a:p>
            <a:pPr>
              <a:spcAft>
                <a:spcPts val="600"/>
              </a:spcAft>
            </a:pPr>
            <a:r>
              <a:rPr lang="en-US" b="1" dirty="0"/>
              <a:t>● </a:t>
            </a:r>
            <a:r>
              <a:rPr lang="en-US" dirty="0"/>
              <a:t>The hotspot map of British white residential distribution presents that their aggregations are mainly in the north and southwest of Bradford, while a low-value cluster, in other words, an area with low white rate taking up a large area is located in the southeast.</a:t>
            </a:r>
            <a:endParaRPr lang="en-US" altLang="zh-CN" dirty="0"/>
          </a:p>
          <a:p>
            <a:pPr>
              <a:spcAft>
                <a:spcPts val="600"/>
              </a:spcAft>
            </a:pPr>
            <a:r>
              <a:rPr lang="en-US" b="1" dirty="0"/>
              <a:t>● </a:t>
            </a:r>
            <a:r>
              <a:rPr lang="en-US" dirty="0"/>
              <a:t>The distribution pattern of high-income groups is quite similar to that of British white. But its low-value clusters in the southeast are not connected that closely .</a:t>
            </a:r>
            <a:endParaRPr lang="en-US" altLang="zh-CN" dirty="0"/>
          </a:p>
        </p:txBody>
      </p:sp>
    </p:spTree>
    <p:extLst>
      <p:ext uri="{BB962C8B-B14F-4D97-AF65-F5344CB8AC3E}">
        <p14:creationId xmlns:p14="http://schemas.microsoft.com/office/powerpoint/2010/main" val="4280558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74E0E9-C68F-4DDE-8D8B-B33E080AFADC}"/>
              </a:ext>
            </a:extLst>
          </p:cNvPr>
          <p:cNvSpPr txBox="1"/>
          <p:nvPr/>
        </p:nvSpPr>
        <p:spPr>
          <a:xfrm>
            <a:off x="228600" y="188259"/>
            <a:ext cx="3200400" cy="7294305"/>
          </a:xfrm>
          <a:prstGeom prst="rect">
            <a:avLst/>
          </a:prstGeom>
          <a:solidFill>
            <a:srgbClr val="FF5050">
              <a:alpha val="60000"/>
            </a:srgbClr>
          </a:solidFill>
        </p:spPr>
        <p:txBody>
          <a:bodyPr wrap="square" rtlCol="0">
            <a:spAutoFit/>
          </a:bodyPr>
          <a:lstStyle/>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r>
              <a:rPr lang="en-US" dirty="0"/>
              <a:t>The hotspot map of British white</a:t>
            </a:r>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r>
              <a:rPr lang="en-US" dirty="0"/>
              <a:t>The hotspot map of high-income group</a:t>
            </a:r>
          </a:p>
        </p:txBody>
      </p:sp>
      <p:pic>
        <p:nvPicPr>
          <p:cNvPr id="8" name="Picture 7">
            <a:extLst>
              <a:ext uri="{FF2B5EF4-FFF2-40B4-BE49-F238E27FC236}">
                <a16:creationId xmlns:a16="http://schemas.microsoft.com/office/drawing/2014/main" id="{A9BEF861-3021-43B9-B40D-3CE6AB0BA02F}"/>
              </a:ext>
            </a:extLst>
          </p:cNvPr>
          <p:cNvPicPr>
            <a:picLocks noChangeAspect="1"/>
          </p:cNvPicPr>
          <p:nvPr/>
        </p:nvPicPr>
        <p:blipFill rotWithShape="1">
          <a:blip r:embed="rId2">
            <a:extLst>
              <a:ext uri="{28A0092B-C50C-407E-A947-70E740481C1C}">
                <a14:useLocalDpi xmlns:a14="http://schemas.microsoft.com/office/drawing/2010/main" val="0"/>
              </a:ext>
            </a:extLst>
          </a:blip>
          <a:srcRect l="2709" t="2824" r="2709" b="2701"/>
          <a:stretch/>
        </p:blipFill>
        <p:spPr>
          <a:xfrm>
            <a:off x="332454" y="3908899"/>
            <a:ext cx="2987672" cy="2885820"/>
          </a:xfrm>
          <a:prstGeom prst="rect">
            <a:avLst/>
          </a:prstGeom>
        </p:spPr>
      </p:pic>
      <p:sp>
        <p:nvSpPr>
          <p:cNvPr id="9" name="TextBox 8">
            <a:extLst>
              <a:ext uri="{FF2B5EF4-FFF2-40B4-BE49-F238E27FC236}">
                <a16:creationId xmlns:a16="http://schemas.microsoft.com/office/drawing/2014/main" id="{6AFBE72C-6243-4865-9F36-590A283333DF}"/>
              </a:ext>
            </a:extLst>
          </p:cNvPr>
          <p:cNvSpPr txBox="1"/>
          <p:nvPr/>
        </p:nvSpPr>
        <p:spPr>
          <a:xfrm>
            <a:off x="3535364" y="188259"/>
            <a:ext cx="3186953" cy="4431983"/>
          </a:xfrm>
          <a:prstGeom prst="rect">
            <a:avLst/>
          </a:prstGeom>
          <a:noFill/>
        </p:spPr>
        <p:txBody>
          <a:bodyPr wrap="square" rtlCol="0">
            <a:spAutoFit/>
          </a:bodyPr>
          <a:lstStyle/>
          <a:p>
            <a:pPr>
              <a:spcAft>
                <a:spcPts val="600"/>
              </a:spcAft>
            </a:pPr>
            <a:r>
              <a:rPr lang="en-US" altLang="zh-CN" sz="2000" b="1" dirty="0">
                <a:solidFill>
                  <a:schemeClr val="accent1">
                    <a:lumMod val="75000"/>
                  </a:schemeClr>
                </a:solidFill>
              </a:rPr>
              <a:t>Conclusion</a:t>
            </a:r>
          </a:p>
          <a:p>
            <a:pPr>
              <a:spcAft>
                <a:spcPts val="600"/>
              </a:spcAft>
            </a:pPr>
            <a:r>
              <a:rPr lang="en-US" b="1" dirty="0"/>
              <a:t>● </a:t>
            </a:r>
            <a:r>
              <a:rPr lang="en-US" dirty="0"/>
              <a:t>The ubiquity of </a:t>
            </a:r>
            <a:r>
              <a:rPr lang="en-GB" altLang="zh-CN" dirty="0"/>
              <a:t>Residential segregation in Bradford not only reflected in the ethnicity but also in the socio-economic groups.</a:t>
            </a:r>
          </a:p>
          <a:p>
            <a:pPr>
              <a:spcAft>
                <a:spcPts val="600"/>
              </a:spcAft>
            </a:pPr>
            <a:r>
              <a:rPr lang="en-US" b="1" dirty="0"/>
              <a:t>● </a:t>
            </a:r>
            <a:r>
              <a:rPr lang="en-GB" altLang="zh-CN" dirty="0"/>
              <a:t>Although the difference between the two hotspot map is not so clear, the discrepancy between dissimilarity indexes of ethnicity and socio-economic groups is large enough to determine the ethnicity as the main impact of the residential segregation.</a:t>
            </a:r>
            <a:endParaRPr lang="en-US" altLang="zh-CN" dirty="0"/>
          </a:p>
        </p:txBody>
      </p:sp>
      <p:sp>
        <p:nvSpPr>
          <p:cNvPr id="10" name="TextBox 9">
            <a:extLst>
              <a:ext uri="{FF2B5EF4-FFF2-40B4-BE49-F238E27FC236}">
                <a16:creationId xmlns:a16="http://schemas.microsoft.com/office/drawing/2014/main" id="{8D927C58-C23C-4490-B510-CECF6393A3EC}"/>
              </a:ext>
            </a:extLst>
          </p:cNvPr>
          <p:cNvSpPr txBox="1"/>
          <p:nvPr/>
        </p:nvSpPr>
        <p:spPr>
          <a:xfrm>
            <a:off x="3548120" y="4534013"/>
            <a:ext cx="3186953" cy="4632037"/>
          </a:xfrm>
          <a:prstGeom prst="rect">
            <a:avLst/>
          </a:prstGeom>
          <a:noFill/>
        </p:spPr>
        <p:txBody>
          <a:bodyPr wrap="square" rtlCol="0">
            <a:spAutoFit/>
          </a:bodyPr>
          <a:lstStyle/>
          <a:p>
            <a:pPr>
              <a:spcAft>
                <a:spcPts val="600"/>
              </a:spcAft>
            </a:pPr>
            <a:r>
              <a:rPr lang="en-US" altLang="zh-CN" sz="2000" b="1" dirty="0">
                <a:solidFill>
                  <a:schemeClr val="accent1">
                    <a:lumMod val="75000"/>
                  </a:schemeClr>
                </a:solidFill>
              </a:rPr>
              <a:t>More information</a:t>
            </a:r>
          </a:p>
          <a:p>
            <a:r>
              <a:rPr lang="en-US" b="1" dirty="0"/>
              <a:t>● </a:t>
            </a:r>
            <a:r>
              <a:rPr lang="en-GB" altLang="zh-CN" dirty="0"/>
              <a:t>Both racial and job statistical are census </a:t>
            </a:r>
            <a:r>
              <a:rPr lang="en-US" altLang="zh-CN" dirty="0"/>
              <a:t>data </a:t>
            </a:r>
            <a:r>
              <a:rPr lang="en-GB" altLang="zh-CN" dirty="0"/>
              <a:t>published by NSSEC.</a:t>
            </a:r>
            <a:endParaRPr lang="en-US" altLang="zh-CN" dirty="0"/>
          </a:p>
          <a:p>
            <a:r>
              <a:rPr lang="en-US" b="1" dirty="0"/>
              <a:t>● </a:t>
            </a:r>
            <a:r>
              <a:rPr lang="en-GB" altLang="zh-CN" dirty="0"/>
              <a:t>The aim of comparison between British white and other races is making full use of the data. In that case, the haphazard can be minimized as possible. </a:t>
            </a:r>
          </a:p>
          <a:p>
            <a:r>
              <a:rPr lang="en-US" b="1" dirty="0"/>
              <a:t>● </a:t>
            </a:r>
            <a:r>
              <a:rPr lang="en-US" altLang="zh-CN" dirty="0"/>
              <a:t>Taking OA instead of ward as the spatial scale is considering the accuracy of the aggregation. As spatial scale decrease, the distribution pattern will be closer </a:t>
            </a:r>
            <a:r>
              <a:rPr lang="en-GB" altLang="zh-CN" dirty="0"/>
              <a:t>to</a:t>
            </a:r>
            <a:r>
              <a:rPr lang="zh-CN" altLang="en-US" dirty="0"/>
              <a:t> </a:t>
            </a:r>
            <a:r>
              <a:rPr lang="en-GB" altLang="zh-CN" dirty="0"/>
              <a:t>the real one.</a:t>
            </a:r>
            <a:endParaRPr lang="en-US" dirty="0"/>
          </a:p>
        </p:txBody>
      </p:sp>
      <p:sp>
        <p:nvSpPr>
          <p:cNvPr id="11" name="TextBox 10">
            <a:extLst>
              <a:ext uri="{FF2B5EF4-FFF2-40B4-BE49-F238E27FC236}">
                <a16:creationId xmlns:a16="http://schemas.microsoft.com/office/drawing/2014/main" id="{D7FE1214-249B-4389-BECB-473A9F7C9D8B}"/>
              </a:ext>
            </a:extLst>
          </p:cNvPr>
          <p:cNvSpPr txBox="1"/>
          <p:nvPr/>
        </p:nvSpPr>
        <p:spPr>
          <a:xfrm>
            <a:off x="122927" y="7380321"/>
            <a:ext cx="3601908" cy="2769989"/>
          </a:xfrm>
          <a:prstGeom prst="rect">
            <a:avLst/>
          </a:prstGeom>
          <a:noFill/>
        </p:spPr>
        <p:txBody>
          <a:bodyPr wrap="square" rtlCol="0">
            <a:spAutoFit/>
          </a:bodyPr>
          <a:lstStyle/>
          <a:p>
            <a:pPr>
              <a:spcAft>
                <a:spcPts val="600"/>
              </a:spcAft>
            </a:pPr>
            <a:r>
              <a:rPr lang="en-US" altLang="zh-CN" sz="2000" b="1" dirty="0">
                <a:solidFill>
                  <a:schemeClr val="accent1">
                    <a:lumMod val="75000"/>
                  </a:schemeClr>
                </a:solidFill>
              </a:rPr>
              <a:t>Key resources</a:t>
            </a:r>
          </a:p>
          <a:p>
            <a:pPr>
              <a:spcAft>
                <a:spcPts val="600"/>
              </a:spcAft>
            </a:pPr>
            <a:r>
              <a:rPr lang="en-US" dirty="0"/>
              <a:t>Moos, M. (2016) ‘From gentrification to </a:t>
            </a:r>
            <a:r>
              <a:rPr lang="en-US" dirty="0" err="1"/>
              <a:t>youthification</a:t>
            </a:r>
            <a:r>
              <a:rPr lang="en-US" dirty="0"/>
              <a:t>? The increasing importance of young age in delineating high-density living’, </a:t>
            </a:r>
            <a:r>
              <a:rPr lang="en-US" i="1" dirty="0"/>
              <a:t>Urban Studies</a:t>
            </a:r>
            <a:r>
              <a:rPr lang="en-US" dirty="0"/>
              <a:t>, 53(14), pp. 2903–2920. </a:t>
            </a:r>
            <a:r>
              <a:rPr lang="en-US" dirty="0" err="1"/>
              <a:t>doi</a:t>
            </a:r>
            <a:r>
              <a:rPr lang="en-US" dirty="0"/>
              <a:t>: 10.1177/0042098015603292.</a:t>
            </a:r>
          </a:p>
          <a:p>
            <a:endParaRPr lang="en-US" altLang="zh-CN" dirty="0"/>
          </a:p>
        </p:txBody>
      </p:sp>
      <p:pic>
        <p:nvPicPr>
          <p:cNvPr id="12" name="Picture 11">
            <a:extLst>
              <a:ext uri="{FF2B5EF4-FFF2-40B4-BE49-F238E27FC236}">
                <a16:creationId xmlns:a16="http://schemas.microsoft.com/office/drawing/2014/main" id="{D92634BE-8E78-4379-A18C-2D1E5863F7E5}"/>
              </a:ext>
            </a:extLst>
          </p:cNvPr>
          <p:cNvPicPr>
            <a:picLocks noChangeAspect="1"/>
          </p:cNvPicPr>
          <p:nvPr/>
        </p:nvPicPr>
        <p:blipFill>
          <a:blip r:embed="rId3"/>
          <a:stretch>
            <a:fillRect/>
          </a:stretch>
        </p:blipFill>
        <p:spPr>
          <a:xfrm>
            <a:off x="0" y="9701353"/>
            <a:ext cx="6858000" cy="153847"/>
          </a:xfrm>
          <a:prstGeom prst="rect">
            <a:avLst/>
          </a:prstGeom>
        </p:spPr>
      </p:pic>
      <p:pic>
        <p:nvPicPr>
          <p:cNvPr id="13" name="Picture 12">
            <a:extLst>
              <a:ext uri="{FF2B5EF4-FFF2-40B4-BE49-F238E27FC236}">
                <a16:creationId xmlns:a16="http://schemas.microsoft.com/office/drawing/2014/main" id="{440A96CA-837A-4FF6-A37F-9E4D249B5BCB}"/>
              </a:ext>
            </a:extLst>
          </p:cNvPr>
          <p:cNvPicPr>
            <a:picLocks noChangeAspect="1"/>
          </p:cNvPicPr>
          <p:nvPr/>
        </p:nvPicPr>
        <p:blipFill rotWithShape="1">
          <a:blip r:embed="rId4">
            <a:extLst>
              <a:ext uri="{28A0092B-C50C-407E-A947-70E740481C1C}">
                <a14:useLocalDpi xmlns:a14="http://schemas.microsoft.com/office/drawing/2010/main" val="0"/>
              </a:ext>
            </a:extLst>
          </a:blip>
          <a:srcRect l="2708" t="3687" r="1635" b="1347"/>
          <a:stretch/>
        </p:blipFill>
        <p:spPr>
          <a:xfrm>
            <a:off x="345211" y="277994"/>
            <a:ext cx="2962159" cy="2851217"/>
          </a:xfrm>
          <a:prstGeom prst="rect">
            <a:avLst/>
          </a:prstGeom>
        </p:spPr>
      </p:pic>
    </p:spTree>
    <p:extLst>
      <p:ext uri="{BB962C8B-B14F-4D97-AF65-F5344CB8AC3E}">
        <p14:creationId xmlns:p14="http://schemas.microsoft.com/office/powerpoint/2010/main" val="298625050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376</TotalTime>
  <Words>429</Words>
  <Application>Microsoft Office PowerPoint</Application>
  <PresentationFormat>A4 Paper (210x297 mm)</PresentationFormat>
  <Paragraphs>37</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等线</vt:lpstr>
      <vt:lpstr>Arial</vt:lpstr>
      <vt:lpstr>Calibri</vt:lpstr>
      <vt:lpstr>Calibri Light</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Luo, Tianyu</dc:creator>
  <cp:lastModifiedBy>Luo, Tianyu</cp:lastModifiedBy>
  <cp:revision>30</cp:revision>
  <dcterms:created xsi:type="dcterms:W3CDTF">2019-03-10T16:18:39Z</dcterms:created>
  <dcterms:modified xsi:type="dcterms:W3CDTF">2019-03-21T14:15:40Z</dcterms:modified>
</cp:coreProperties>
</file>