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65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76F000-605E-41C9-80D0-FBF74AE1D7BA}" type="datetimeFigureOut">
              <a:rPr lang="en-GB" smtClean="0"/>
              <a:t>21/03/2019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1244201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6F000-605E-41C9-80D0-FBF74AE1D7BA}" type="datetimeFigureOut">
              <a:rPr lang="en-GB" smtClean="0"/>
              <a:t>21/03/2019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859464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476F000-605E-41C9-80D0-FBF74AE1D7BA}" type="datetimeFigureOut">
              <a:rPr lang="en-GB" smtClean="0"/>
              <a:t>21/03/2019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4065068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76F000-605E-41C9-80D0-FBF74AE1D7BA}" type="datetimeFigureOut">
              <a:rPr lang="en-GB" smtClean="0"/>
              <a:t>21/03/2019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1981653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76F000-605E-41C9-80D0-FBF74AE1D7BA}" type="datetimeFigureOut">
              <a:rPr lang="en-GB" smtClean="0"/>
              <a:t>21/03/2019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37139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76F000-605E-41C9-80D0-FBF74AE1D7BA}" type="datetimeFigureOut">
              <a:rPr lang="en-GB" smtClean="0"/>
              <a:t>21/03/2019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3839606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76F000-605E-41C9-80D0-FBF74AE1D7BA}" type="datetimeFigureOut">
              <a:rPr lang="en-GB" smtClean="0"/>
              <a:t>21/03/2019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1714311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476F000-605E-41C9-80D0-FBF74AE1D7BA}" type="datetimeFigureOut">
              <a:rPr lang="en-GB" smtClean="0"/>
              <a:t>21/03/2019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3496975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476F000-605E-41C9-80D0-FBF74AE1D7BA}" type="datetimeFigureOut">
              <a:rPr lang="en-GB" smtClean="0"/>
              <a:t>21/03/2019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239887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6F000-605E-41C9-80D0-FBF74AE1D7BA}" type="datetimeFigureOut">
              <a:rPr lang="en-GB" smtClean="0"/>
              <a:t>21/03/2019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2146139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6F000-605E-41C9-80D0-FBF74AE1D7BA}" type="datetimeFigureOut">
              <a:rPr lang="en-GB" smtClean="0"/>
              <a:t>21/03/2019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D30E51-C5C6-438B-8F5C-E9DE4D56ECB2}" type="slidenum">
              <a:rPr lang="en-GB" smtClean="0"/>
              <a:t>‹#›</a:t>
            </a:fld>
            <a:endParaRPr lang="en-GB"/>
          </a:p>
        </p:txBody>
      </p:sp>
    </p:spTree>
    <p:extLst>
      <p:ext uri="{BB962C8B-B14F-4D97-AF65-F5344CB8AC3E}">
        <p14:creationId xmlns:p14="http://schemas.microsoft.com/office/powerpoint/2010/main" val="186906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A476F000-605E-41C9-80D0-FBF74AE1D7BA}" type="datetimeFigureOut">
              <a:rPr lang="en-GB" smtClean="0"/>
              <a:t>21/03/2019</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D5D30E51-C5C6-438B-8F5C-E9DE4D56ECB2}" type="slidenum">
              <a:rPr lang="en-GB" smtClean="0"/>
              <a:t>‹#›</a:t>
            </a:fld>
            <a:endParaRPr lang="en-GB"/>
          </a:p>
        </p:txBody>
      </p:sp>
    </p:spTree>
    <p:extLst>
      <p:ext uri="{BB962C8B-B14F-4D97-AF65-F5344CB8AC3E}">
        <p14:creationId xmlns:p14="http://schemas.microsoft.com/office/powerpoint/2010/main" val="40419515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E43FEE-FD32-4EFD-A0CA-93993FC03052}"/>
              </a:ext>
            </a:extLst>
          </p:cNvPr>
          <p:cNvSpPr txBox="1"/>
          <p:nvPr/>
        </p:nvSpPr>
        <p:spPr>
          <a:xfrm>
            <a:off x="161364" y="121024"/>
            <a:ext cx="6104965" cy="1892826"/>
          </a:xfrm>
          <a:prstGeom prst="rect">
            <a:avLst/>
          </a:prstGeom>
          <a:noFill/>
        </p:spPr>
        <p:txBody>
          <a:bodyPr wrap="square" rtlCol="0">
            <a:spAutoFit/>
          </a:bodyPr>
          <a:lstStyle/>
          <a:p>
            <a:pPr>
              <a:spcAft>
                <a:spcPts val="600"/>
              </a:spcAft>
            </a:pPr>
            <a:r>
              <a:rPr lang="en-GB" altLang="zh-CN" sz="3600" dirty="0">
                <a:solidFill>
                  <a:schemeClr val="accent1">
                    <a:lumMod val="50000"/>
                  </a:schemeClr>
                </a:solidFill>
              </a:rPr>
              <a:t>High Homeownership Rates are </a:t>
            </a:r>
            <a:r>
              <a:rPr lang="en-US" altLang="zh-CN" sz="3600" dirty="0">
                <a:solidFill>
                  <a:schemeClr val="accent1">
                    <a:lumMod val="50000"/>
                  </a:schemeClr>
                </a:solidFill>
              </a:rPr>
              <a:t>Impairing</a:t>
            </a:r>
            <a:r>
              <a:rPr lang="en-GB" altLang="zh-CN" sz="3600" dirty="0">
                <a:solidFill>
                  <a:schemeClr val="accent1">
                    <a:lumMod val="50000"/>
                  </a:schemeClr>
                </a:solidFill>
              </a:rPr>
              <a:t> the </a:t>
            </a:r>
            <a:r>
              <a:rPr lang="en-US" altLang="zh-CN" sz="3600" dirty="0">
                <a:solidFill>
                  <a:schemeClr val="accent1">
                    <a:lumMod val="50000"/>
                  </a:schemeClr>
                </a:solidFill>
              </a:rPr>
              <a:t>Labor </a:t>
            </a:r>
            <a:r>
              <a:rPr lang="en-GB" altLang="zh-CN" sz="3600" dirty="0">
                <a:solidFill>
                  <a:schemeClr val="accent1">
                    <a:lumMod val="50000"/>
                  </a:schemeClr>
                </a:solidFill>
              </a:rPr>
              <a:t>Market:</a:t>
            </a:r>
          </a:p>
          <a:p>
            <a:r>
              <a:rPr lang="en-GB" sz="2000" dirty="0">
                <a:solidFill>
                  <a:schemeClr val="accent1">
                    <a:lumMod val="75000"/>
                  </a:schemeClr>
                </a:solidFill>
              </a:rPr>
              <a:t>The strong Relationship between homeownership rate and youth unemployment</a:t>
            </a:r>
          </a:p>
        </p:txBody>
      </p:sp>
      <p:pic>
        <p:nvPicPr>
          <p:cNvPr id="5" name="Picture 4">
            <a:extLst>
              <a:ext uri="{FF2B5EF4-FFF2-40B4-BE49-F238E27FC236}">
                <a16:creationId xmlns:a16="http://schemas.microsoft.com/office/drawing/2014/main" id="{11CFDCEB-6636-4929-BD64-8166C70B6EB7}"/>
              </a:ext>
            </a:extLst>
          </p:cNvPr>
          <p:cNvPicPr>
            <a:picLocks noChangeAspect="1"/>
          </p:cNvPicPr>
          <p:nvPr/>
        </p:nvPicPr>
        <p:blipFill>
          <a:blip r:embed="rId2"/>
          <a:stretch>
            <a:fillRect/>
          </a:stretch>
        </p:blipFill>
        <p:spPr>
          <a:xfrm>
            <a:off x="0" y="9701353"/>
            <a:ext cx="6858000" cy="153847"/>
          </a:xfrm>
          <a:prstGeom prst="rect">
            <a:avLst/>
          </a:prstGeom>
        </p:spPr>
      </p:pic>
      <p:sp>
        <p:nvSpPr>
          <p:cNvPr id="7" name="TextBox 6">
            <a:extLst>
              <a:ext uri="{FF2B5EF4-FFF2-40B4-BE49-F238E27FC236}">
                <a16:creationId xmlns:a16="http://schemas.microsoft.com/office/drawing/2014/main" id="{139CAA44-EADF-4ACF-A31A-04A7B17C6290}"/>
              </a:ext>
            </a:extLst>
          </p:cNvPr>
          <p:cNvSpPr txBox="1"/>
          <p:nvPr/>
        </p:nvSpPr>
        <p:spPr>
          <a:xfrm>
            <a:off x="161364" y="2013850"/>
            <a:ext cx="3267636" cy="7755969"/>
          </a:xfrm>
          <a:prstGeom prst="rect">
            <a:avLst/>
          </a:prstGeom>
          <a:noFill/>
        </p:spPr>
        <p:txBody>
          <a:bodyPr wrap="square" rtlCol="0">
            <a:spAutoFit/>
          </a:bodyPr>
          <a:lstStyle/>
          <a:p>
            <a:pPr>
              <a:spcAft>
                <a:spcPts val="600"/>
              </a:spcAft>
            </a:pPr>
            <a:r>
              <a:rPr lang="en-GB" sz="2000" b="1" dirty="0">
                <a:solidFill>
                  <a:schemeClr val="accent1">
                    <a:lumMod val="75000"/>
                  </a:schemeClr>
                </a:solidFill>
              </a:rPr>
              <a:t>About the research</a:t>
            </a:r>
          </a:p>
          <a:p>
            <a:pPr>
              <a:spcAft>
                <a:spcPts val="600"/>
              </a:spcAft>
            </a:pPr>
            <a:r>
              <a:rPr lang="en-GB" altLang="zh-CN" dirty="0"/>
              <a:t>A recent study shows that there is a </a:t>
            </a:r>
            <a:r>
              <a:rPr lang="en-US" altLang="zh-CN" dirty="0"/>
              <a:t>strong</a:t>
            </a:r>
            <a:r>
              <a:rPr lang="en-GB" altLang="zh-CN" dirty="0"/>
              <a:t> relationship between high housing ownership and high unemployment. The reason is that high housing ownership rates can lead to a decline in labour mobility and inflexibility in commuting.</a:t>
            </a:r>
            <a:r>
              <a:rPr lang="zh-CN" altLang="en-US" dirty="0"/>
              <a:t> </a:t>
            </a:r>
            <a:r>
              <a:rPr lang="en-GB" altLang="zh-CN" dirty="0"/>
              <a:t>The researchers claimed,</a:t>
            </a:r>
            <a:r>
              <a:rPr lang="en-US" dirty="0"/>
              <a:t> (Blanchflower and Oswald, 2013)</a:t>
            </a:r>
            <a:r>
              <a:rPr lang="en-GB" dirty="0"/>
              <a:t> </a:t>
            </a:r>
            <a:r>
              <a:rPr lang="en-GB" altLang="zh-CN" dirty="0"/>
              <a:t>“As some politicians still have not found realize this danger trend, in the context of the increasing unemployment and housing ownership rate nowadays, there are still some policies such as “Help to Buy”  are implemented, which will erodes the national industrial base gradually.”</a:t>
            </a:r>
          </a:p>
          <a:p>
            <a:r>
              <a:rPr lang="en-GB" altLang="zh-CN" dirty="0"/>
              <a:t>This study verifies the points mentioned above by analysing the relationship between youth(under 25) unemployment rate and housing ownership rate of 16 European countries from the temporal perspective.</a:t>
            </a:r>
            <a:endParaRPr lang="en-GB" dirty="0"/>
          </a:p>
        </p:txBody>
      </p:sp>
      <p:sp>
        <p:nvSpPr>
          <p:cNvPr id="8" name="TextBox 7">
            <a:extLst>
              <a:ext uri="{FF2B5EF4-FFF2-40B4-BE49-F238E27FC236}">
                <a16:creationId xmlns:a16="http://schemas.microsoft.com/office/drawing/2014/main" id="{01E8FC2B-A78C-4718-922B-EECD3EC73F0F}"/>
              </a:ext>
            </a:extLst>
          </p:cNvPr>
          <p:cNvSpPr txBox="1"/>
          <p:nvPr/>
        </p:nvSpPr>
        <p:spPr>
          <a:xfrm>
            <a:off x="3429000" y="2013850"/>
            <a:ext cx="3119718" cy="7355860"/>
          </a:xfrm>
          <a:prstGeom prst="rect">
            <a:avLst/>
          </a:prstGeom>
          <a:solidFill>
            <a:srgbClr val="FF5050">
              <a:alpha val="61176"/>
            </a:srgbClr>
          </a:solidFill>
        </p:spPr>
        <p:txBody>
          <a:bodyPr wrap="square" rtlCol="0">
            <a:spAutoFit/>
          </a:bodyPr>
          <a:lstStyle/>
          <a:p>
            <a:pPr>
              <a:spcAft>
                <a:spcPts val="600"/>
              </a:spcAft>
            </a:pPr>
            <a:r>
              <a:rPr lang="en-US" altLang="zh-CN" sz="2000" b="1" dirty="0">
                <a:solidFill>
                  <a:schemeClr val="accent1">
                    <a:lumMod val="75000"/>
                  </a:schemeClr>
                </a:solidFill>
              </a:rPr>
              <a:t>Key findings</a:t>
            </a:r>
          </a:p>
          <a:p>
            <a:pPr>
              <a:spcAft>
                <a:spcPts val="600"/>
              </a:spcAft>
            </a:pPr>
            <a:r>
              <a:rPr lang="en-US" b="1" dirty="0"/>
              <a:t>● </a:t>
            </a:r>
            <a:r>
              <a:rPr lang="en-GB" dirty="0"/>
              <a:t>From 2010 to 2017, both housing ownership rate and youth unemployment rate were positively correlated.</a:t>
            </a:r>
            <a:endParaRPr lang="en-US" dirty="0"/>
          </a:p>
          <a:p>
            <a:pPr>
              <a:spcAft>
                <a:spcPts val="600"/>
              </a:spcAft>
            </a:pPr>
            <a:r>
              <a:rPr lang="en-US" b="1" dirty="0"/>
              <a:t>● </a:t>
            </a:r>
            <a:r>
              <a:rPr lang="en-US" dirty="0"/>
              <a:t>But </a:t>
            </a:r>
            <a:r>
              <a:rPr lang="en-GB" dirty="0"/>
              <a:t>The correlation coefficient decreases every year, from 0.539 (highly-related) in 2010 to 0.108 (non-related) in 2017</a:t>
            </a:r>
            <a:r>
              <a:rPr lang="en-GB" b="1" dirty="0"/>
              <a:t>.</a:t>
            </a:r>
            <a:endParaRPr lang="en-US" b="1" dirty="0"/>
          </a:p>
          <a:p>
            <a:pPr>
              <a:spcAft>
                <a:spcPts val="600"/>
              </a:spcAft>
            </a:pPr>
            <a:r>
              <a:rPr lang="en-US" b="1" dirty="0"/>
              <a:t>● </a:t>
            </a:r>
            <a:r>
              <a:rPr lang="en-GB" dirty="0"/>
              <a:t>All correlations calculated by different correlation algorithms between change </a:t>
            </a:r>
            <a:r>
              <a:rPr lang="en-US" altLang="zh-CN" dirty="0"/>
              <a:t>rate </a:t>
            </a:r>
            <a:r>
              <a:rPr lang="en-GB" dirty="0"/>
              <a:t>of housing ownership and youth unemployment during 8 years are quite low, even the maximum only reached at 0.25 (weak correlation).</a:t>
            </a:r>
            <a:endParaRPr lang="en-GB" altLang="zh-CN" b="1" dirty="0"/>
          </a:p>
          <a:p>
            <a:pPr>
              <a:spcAft>
                <a:spcPts val="600"/>
              </a:spcAft>
            </a:pPr>
            <a:r>
              <a:rPr lang="en-US" b="1" dirty="0"/>
              <a:t>● </a:t>
            </a:r>
            <a:r>
              <a:rPr lang="en-GB" dirty="0"/>
              <a:t>The change rates between housing ownership and youth unemployment of all countries are divided evenly into positively correlated and negatively correlated groups (8-8).</a:t>
            </a:r>
            <a:endParaRPr lang="en-US" dirty="0"/>
          </a:p>
        </p:txBody>
      </p:sp>
    </p:spTree>
    <p:extLst>
      <p:ext uri="{BB962C8B-B14F-4D97-AF65-F5344CB8AC3E}">
        <p14:creationId xmlns:p14="http://schemas.microsoft.com/office/powerpoint/2010/main" val="2049390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3598A3-7BE9-4253-B35B-F3794F4ED687}"/>
              </a:ext>
            </a:extLst>
          </p:cNvPr>
          <p:cNvSpPr txBox="1"/>
          <p:nvPr/>
        </p:nvSpPr>
        <p:spPr>
          <a:xfrm>
            <a:off x="161364" y="161364"/>
            <a:ext cx="3267636" cy="3877985"/>
          </a:xfrm>
          <a:prstGeom prst="rect">
            <a:avLst/>
          </a:prstGeom>
          <a:noFill/>
        </p:spPr>
        <p:txBody>
          <a:bodyPr wrap="square" rtlCol="0">
            <a:spAutoFit/>
          </a:bodyPr>
          <a:lstStyle/>
          <a:p>
            <a:pPr>
              <a:spcAft>
                <a:spcPts val="600"/>
              </a:spcAft>
            </a:pPr>
            <a:r>
              <a:rPr lang="en-GB" sz="2000" b="1" dirty="0">
                <a:solidFill>
                  <a:schemeClr val="accent1">
                    <a:lumMod val="75000"/>
                  </a:schemeClr>
                </a:solidFill>
              </a:rPr>
              <a:t>Conclusion</a:t>
            </a:r>
          </a:p>
          <a:p>
            <a:pPr>
              <a:spcAft>
                <a:spcPts val="600"/>
              </a:spcAft>
            </a:pPr>
            <a:r>
              <a:rPr lang="en-US" b="1" dirty="0"/>
              <a:t>● </a:t>
            </a:r>
            <a:r>
              <a:rPr lang="en-GB" dirty="0"/>
              <a:t>The positive correlations that have been maintained for many years and the high values in some years indicate that there is indeed a relation between housing ownership and youth unemployment.</a:t>
            </a:r>
            <a:endParaRPr lang="en-US" dirty="0"/>
          </a:p>
          <a:p>
            <a:r>
              <a:rPr lang="en-US" b="1" dirty="0"/>
              <a:t>● </a:t>
            </a:r>
            <a:r>
              <a:rPr lang="en-GB" dirty="0"/>
              <a:t>Although housing ownership and youth employment can influence each other, their relationship is not a decisive relationship.</a:t>
            </a:r>
            <a:endParaRPr lang="en-US" dirty="0"/>
          </a:p>
        </p:txBody>
      </p:sp>
      <p:sp>
        <p:nvSpPr>
          <p:cNvPr id="5" name="TextBox 4">
            <a:extLst>
              <a:ext uri="{FF2B5EF4-FFF2-40B4-BE49-F238E27FC236}">
                <a16:creationId xmlns:a16="http://schemas.microsoft.com/office/drawing/2014/main" id="{7BF03FB3-61D5-45EB-8D06-35AE291FFD97}"/>
              </a:ext>
            </a:extLst>
          </p:cNvPr>
          <p:cNvSpPr txBox="1"/>
          <p:nvPr/>
        </p:nvSpPr>
        <p:spPr>
          <a:xfrm>
            <a:off x="3429000" y="161364"/>
            <a:ext cx="3267636" cy="6955750"/>
          </a:xfrm>
          <a:prstGeom prst="rect">
            <a:avLst/>
          </a:prstGeom>
          <a:noFill/>
        </p:spPr>
        <p:txBody>
          <a:bodyPr wrap="square" rtlCol="0">
            <a:spAutoFit/>
          </a:bodyPr>
          <a:lstStyle/>
          <a:p>
            <a:pPr>
              <a:spcAft>
                <a:spcPts val="600"/>
              </a:spcAft>
            </a:pPr>
            <a:r>
              <a:rPr lang="en-GB" sz="2000" b="1" dirty="0">
                <a:solidFill>
                  <a:schemeClr val="accent1">
                    <a:lumMod val="75000"/>
                  </a:schemeClr>
                </a:solidFill>
              </a:rPr>
              <a:t>Further information</a:t>
            </a:r>
          </a:p>
          <a:p>
            <a:pPr>
              <a:spcAft>
                <a:spcPts val="600"/>
              </a:spcAft>
            </a:pPr>
            <a:r>
              <a:rPr lang="en-US" dirty="0"/>
              <a:t>●</a:t>
            </a:r>
            <a:r>
              <a:rPr lang="en-US" sz="2000" b="1" dirty="0"/>
              <a:t> </a:t>
            </a:r>
            <a:r>
              <a:rPr lang="en-GB" dirty="0"/>
              <a:t>The decrease of the unemployment rate in Europe those years is mainly due to the rebound trend of financial performance after the 2008 economic crisis (Tanveer Choudhry, Signorelli and Marelli, </a:t>
            </a:r>
            <a:r>
              <a:rPr lang="en-GB"/>
              <a:t>2012) which </a:t>
            </a:r>
            <a:r>
              <a:rPr lang="en-GB" dirty="0"/>
              <a:t>greatly exceeds the range of housing ownership can hold, resulting in a lower correlation between the two.</a:t>
            </a:r>
            <a:endParaRPr lang="en-US" dirty="0"/>
          </a:p>
          <a:p>
            <a:r>
              <a:rPr lang="en-US" dirty="0"/>
              <a:t>● </a:t>
            </a:r>
            <a:r>
              <a:rPr lang="en-GB" dirty="0"/>
              <a:t>The unemployment rate of young people is more severely affected by the housing holding rate. This may be related to the contradiction between the limited financial level and the inconvenience caused by commuting, relocation and other issues after the settlement. In that case, young people cannot find a suitable job as easy as before.</a:t>
            </a:r>
          </a:p>
        </p:txBody>
      </p:sp>
      <p:pic>
        <p:nvPicPr>
          <p:cNvPr id="6" name="Picture 5">
            <a:extLst>
              <a:ext uri="{FF2B5EF4-FFF2-40B4-BE49-F238E27FC236}">
                <a16:creationId xmlns:a16="http://schemas.microsoft.com/office/drawing/2014/main" id="{842AC47B-F92A-421C-949F-22DD5002CBF3}"/>
              </a:ext>
            </a:extLst>
          </p:cNvPr>
          <p:cNvPicPr>
            <a:picLocks noChangeAspect="1"/>
          </p:cNvPicPr>
          <p:nvPr/>
        </p:nvPicPr>
        <p:blipFill>
          <a:blip r:embed="rId2"/>
          <a:stretch>
            <a:fillRect/>
          </a:stretch>
        </p:blipFill>
        <p:spPr>
          <a:xfrm>
            <a:off x="0" y="9701353"/>
            <a:ext cx="6858000" cy="153847"/>
          </a:xfrm>
          <a:prstGeom prst="rect">
            <a:avLst/>
          </a:prstGeom>
        </p:spPr>
      </p:pic>
      <p:sp>
        <p:nvSpPr>
          <p:cNvPr id="7" name="TextBox 6">
            <a:extLst>
              <a:ext uri="{FF2B5EF4-FFF2-40B4-BE49-F238E27FC236}">
                <a16:creationId xmlns:a16="http://schemas.microsoft.com/office/drawing/2014/main" id="{58816E04-94A9-4A97-894E-03D18824ADB1}"/>
              </a:ext>
            </a:extLst>
          </p:cNvPr>
          <p:cNvSpPr txBox="1"/>
          <p:nvPr/>
        </p:nvSpPr>
        <p:spPr>
          <a:xfrm>
            <a:off x="161364" y="7362251"/>
            <a:ext cx="6535272" cy="2492990"/>
          </a:xfrm>
          <a:prstGeom prst="rect">
            <a:avLst/>
          </a:prstGeom>
          <a:noFill/>
        </p:spPr>
        <p:txBody>
          <a:bodyPr wrap="square" rtlCol="0">
            <a:spAutoFit/>
          </a:bodyPr>
          <a:lstStyle/>
          <a:p>
            <a:pPr>
              <a:spcAft>
                <a:spcPts val="600"/>
              </a:spcAft>
            </a:pPr>
            <a:r>
              <a:rPr lang="en-GB" sz="2000" b="1" dirty="0">
                <a:solidFill>
                  <a:schemeClr val="accent1">
                    <a:lumMod val="75000"/>
                  </a:schemeClr>
                </a:solidFill>
              </a:rPr>
              <a:t>References:</a:t>
            </a:r>
            <a:endParaRPr lang="en-GB" dirty="0"/>
          </a:p>
          <a:p>
            <a:pPr>
              <a:spcAft>
                <a:spcPts val="600"/>
              </a:spcAft>
            </a:pPr>
            <a:r>
              <a:rPr lang="en-GB" dirty="0"/>
              <a:t>Blanchflower, D. G. and Oswald, A. J. (2013) ‘The Danger of High Home Ownership: Greater Unemployment’, p. 12.</a:t>
            </a:r>
          </a:p>
          <a:p>
            <a:r>
              <a:rPr lang="en-US" dirty="0"/>
              <a:t>Tanveer Choudhry, M., Signorelli, M. and Marelli, E. (2012) ‘Youth unemployment rate and impact of financial crises’, </a:t>
            </a:r>
            <a:r>
              <a:rPr lang="en-US" i="1" dirty="0"/>
              <a:t>International Journal of Manpower</a:t>
            </a:r>
            <a:r>
              <a:rPr lang="en-US" dirty="0"/>
              <a:t>, 33(1), pp. 76–95. </a:t>
            </a:r>
            <a:r>
              <a:rPr lang="en-US" dirty="0" err="1"/>
              <a:t>doi</a:t>
            </a:r>
            <a:r>
              <a:rPr lang="en-US" dirty="0"/>
              <a:t>: 10.1108/01437721211212538.</a:t>
            </a:r>
            <a:endParaRPr lang="en-GB" dirty="0"/>
          </a:p>
          <a:p>
            <a:endParaRPr lang="en-GB" dirty="0"/>
          </a:p>
        </p:txBody>
      </p:sp>
    </p:spTree>
    <p:extLst>
      <p:ext uri="{BB962C8B-B14F-4D97-AF65-F5344CB8AC3E}">
        <p14:creationId xmlns:p14="http://schemas.microsoft.com/office/powerpoint/2010/main" val="28960106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195</TotalTime>
  <Words>504</Words>
  <Application>Microsoft Office PowerPoint</Application>
  <PresentationFormat>A4 Paper (210x297 mm)</PresentationFormat>
  <Paragraphs>19</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等线</vt: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Luo, Tianyu</dc:creator>
  <cp:lastModifiedBy>Luo, Tianyu</cp:lastModifiedBy>
  <cp:revision>20</cp:revision>
  <dcterms:created xsi:type="dcterms:W3CDTF">2019-03-21T13:55:09Z</dcterms:created>
  <dcterms:modified xsi:type="dcterms:W3CDTF">2019-03-21T17:10:51Z</dcterms:modified>
</cp:coreProperties>
</file>