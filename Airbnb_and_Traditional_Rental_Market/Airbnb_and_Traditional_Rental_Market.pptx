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26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078612-03E2-4410-99A8-722FD6AD608A}"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2614800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078612-03E2-4410-99A8-722FD6AD608A}"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2947515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078612-03E2-4410-99A8-722FD6AD608A}"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425837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078612-03E2-4410-99A8-722FD6AD608A}"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3060844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078612-03E2-4410-99A8-722FD6AD608A}" type="datetimeFigureOut">
              <a:rPr lang="en-US" smtClean="0"/>
              <a:t>3/18/2019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2082346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078612-03E2-4410-99A8-722FD6AD608A}" type="datetimeFigureOut">
              <a:rPr lang="en-US" smtClean="0"/>
              <a:t>3/18/2019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4040882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078612-03E2-4410-99A8-722FD6AD608A}" type="datetimeFigureOut">
              <a:rPr lang="en-US" smtClean="0"/>
              <a:t>3/18/2019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321223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9078612-03E2-4410-99A8-722FD6AD608A}"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717284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9078612-03E2-4410-99A8-722FD6AD608A}"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4222323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078612-03E2-4410-99A8-722FD6AD608A}"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1424821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078612-03E2-4410-99A8-722FD6AD608A}"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A9380-C2D3-4446-B766-1B8B91BB5771}" type="slidenum">
              <a:rPr lang="en-US" smtClean="0"/>
              <a:t>‹#›</a:t>
            </a:fld>
            <a:endParaRPr lang="en-US"/>
          </a:p>
        </p:txBody>
      </p:sp>
    </p:spTree>
    <p:extLst>
      <p:ext uri="{BB962C8B-B14F-4D97-AF65-F5344CB8AC3E}">
        <p14:creationId xmlns:p14="http://schemas.microsoft.com/office/powerpoint/2010/main" val="4111681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078612-03E2-4410-99A8-722FD6AD608A}" type="datetimeFigureOut">
              <a:rPr lang="en-US" smtClean="0"/>
              <a:t>3/18/2019</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4A3A9380-C2D3-4446-B766-1B8B91BB5771}" type="slidenum">
              <a:rPr lang="en-US" smtClean="0"/>
              <a:t>‹#›</a:t>
            </a:fld>
            <a:endParaRPr lang="en-US"/>
          </a:p>
        </p:txBody>
      </p:sp>
    </p:spTree>
    <p:extLst>
      <p:ext uri="{BB962C8B-B14F-4D97-AF65-F5344CB8AC3E}">
        <p14:creationId xmlns:p14="http://schemas.microsoft.com/office/powerpoint/2010/main" val="1901995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ACFA4F-AA91-4F1D-A11F-22D9124FFEA6}"/>
              </a:ext>
            </a:extLst>
          </p:cNvPr>
          <p:cNvSpPr txBox="1"/>
          <p:nvPr/>
        </p:nvSpPr>
        <p:spPr>
          <a:xfrm>
            <a:off x="161365" y="94129"/>
            <a:ext cx="5029200" cy="1892826"/>
          </a:xfrm>
          <a:prstGeom prst="rect">
            <a:avLst/>
          </a:prstGeom>
          <a:noFill/>
        </p:spPr>
        <p:txBody>
          <a:bodyPr wrap="square" rtlCol="0">
            <a:spAutoFit/>
          </a:bodyPr>
          <a:lstStyle/>
          <a:p>
            <a:pPr>
              <a:spcAft>
                <a:spcPts val="600"/>
              </a:spcAft>
            </a:pPr>
            <a:r>
              <a:rPr lang="en-US" altLang="zh-CN" sz="3600" b="1" dirty="0">
                <a:solidFill>
                  <a:schemeClr val="accent1">
                    <a:lumMod val="50000"/>
                  </a:schemeClr>
                </a:solidFill>
              </a:rPr>
              <a:t>The Prevailing of the New-form Rental Market:</a:t>
            </a:r>
          </a:p>
          <a:p>
            <a:r>
              <a:rPr lang="en-GB" altLang="zh-CN" sz="2000" dirty="0">
                <a:solidFill>
                  <a:schemeClr val="accent1">
                    <a:lumMod val="75000"/>
                  </a:schemeClr>
                </a:solidFill>
              </a:rPr>
              <a:t>Potential links Between Airbnb And the Rental System in London</a:t>
            </a:r>
            <a:endParaRPr lang="en-US" sz="2000" dirty="0">
              <a:solidFill>
                <a:schemeClr val="accent1">
                  <a:lumMod val="75000"/>
                </a:schemeClr>
              </a:solidFill>
            </a:endParaRPr>
          </a:p>
        </p:txBody>
      </p:sp>
      <p:sp>
        <p:nvSpPr>
          <p:cNvPr id="5" name="TextBox 4">
            <a:extLst>
              <a:ext uri="{FF2B5EF4-FFF2-40B4-BE49-F238E27FC236}">
                <a16:creationId xmlns:a16="http://schemas.microsoft.com/office/drawing/2014/main" id="{3AE13CD7-5E24-4B16-994F-837D10CD42F6}"/>
              </a:ext>
            </a:extLst>
          </p:cNvPr>
          <p:cNvSpPr txBox="1"/>
          <p:nvPr/>
        </p:nvSpPr>
        <p:spPr>
          <a:xfrm>
            <a:off x="161365" y="2094531"/>
            <a:ext cx="3267635" cy="7555915"/>
          </a:xfrm>
          <a:prstGeom prst="rect">
            <a:avLst/>
          </a:prstGeom>
          <a:noFill/>
        </p:spPr>
        <p:txBody>
          <a:bodyPr wrap="square" rtlCol="0">
            <a:spAutoFit/>
          </a:bodyPr>
          <a:lstStyle/>
          <a:p>
            <a:pPr>
              <a:spcAft>
                <a:spcPts val="600"/>
              </a:spcAft>
            </a:pPr>
            <a:r>
              <a:rPr lang="en-US" sz="2000" b="1" dirty="0">
                <a:solidFill>
                  <a:schemeClr val="accent1">
                    <a:lumMod val="75000"/>
                  </a:schemeClr>
                </a:solidFill>
              </a:rPr>
              <a:t>About the research</a:t>
            </a:r>
          </a:p>
          <a:p>
            <a:pPr>
              <a:spcAft>
                <a:spcPts val="600"/>
              </a:spcAft>
            </a:pPr>
            <a:r>
              <a:rPr lang="en-GB" altLang="zh-CN" dirty="0"/>
              <a:t>The online rental market such as Airbnb is impacting the traditional rental system and draw</a:t>
            </a:r>
            <a:r>
              <a:rPr lang="en-US" altLang="zh-CN" dirty="0" err="1"/>
              <a:t>ing</a:t>
            </a:r>
            <a:r>
              <a:rPr lang="en-GB" altLang="zh-CN" dirty="0"/>
              <a:t> widespread concern. In order to prevent the mainstream housing market from potential threat posted by this trend in the future, the development of the online housing rental market must be under supervision. Meanwhile, this impact on the local rental market should be assessed quantitatively as well.</a:t>
            </a:r>
          </a:p>
          <a:p>
            <a:pPr>
              <a:spcAft>
                <a:spcPts val="600"/>
              </a:spcAft>
            </a:pPr>
            <a:r>
              <a:rPr lang="en-GB" altLang="zh-CN" dirty="0"/>
              <a:t>Based on data provided by third-party “Inside Airbnb”, this research analyses all active Airbnb listings in London to get the distribution pattern in “borough” scale. Then, the listings are modelled with the local rental market data obtained from </a:t>
            </a:r>
            <a:r>
              <a:rPr lang="en-GB" dirty="0"/>
              <a:t>gov.uk to reveal the connection between the two types of rental market.</a:t>
            </a:r>
            <a:endParaRPr lang="en-US" dirty="0"/>
          </a:p>
          <a:p>
            <a:pPr>
              <a:spcAft>
                <a:spcPts val="600"/>
              </a:spcAft>
            </a:pPr>
            <a:endParaRPr lang="en-GB" altLang="zh-CN" dirty="0"/>
          </a:p>
        </p:txBody>
      </p:sp>
      <p:pic>
        <p:nvPicPr>
          <p:cNvPr id="6" name="Picture 5">
            <a:extLst>
              <a:ext uri="{FF2B5EF4-FFF2-40B4-BE49-F238E27FC236}">
                <a16:creationId xmlns:a16="http://schemas.microsoft.com/office/drawing/2014/main" id="{173310AA-31F8-4787-8A98-E5FD064EBEAA}"/>
              </a:ext>
            </a:extLst>
          </p:cNvPr>
          <p:cNvPicPr>
            <a:picLocks noChangeAspect="1"/>
          </p:cNvPicPr>
          <p:nvPr/>
        </p:nvPicPr>
        <p:blipFill>
          <a:blip r:embed="rId2"/>
          <a:stretch>
            <a:fillRect/>
          </a:stretch>
        </p:blipFill>
        <p:spPr>
          <a:xfrm>
            <a:off x="0" y="9701353"/>
            <a:ext cx="6858000" cy="153847"/>
          </a:xfrm>
          <a:prstGeom prst="rect">
            <a:avLst/>
          </a:prstGeom>
        </p:spPr>
      </p:pic>
      <p:sp>
        <p:nvSpPr>
          <p:cNvPr id="9" name="TextBox 8">
            <a:extLst>
              <a:ext uri="{FF2B5EF4-FFF2-40B4-BE49-F238E27FC236}">
                <a16:creationId xmlns:a16="http://schemas.microsoft.com/office/drawing/2014/main" id="{6D026F83-B633-4997-8884-BB0452DB00A2}"/>
              </a:ext>
            </a:extLst>
          </p:cNvPr>
          <p:cNvSpPr txBox="1"/>
          <p:nvPr/>
        </p:nvSpPr>
        <p:spPr>
          <a:xfrm>
            <a:off x="3358403" y="2094531"/>
            <a:ext cx="3267635" cy="7540526"/>
          </a:xfrm>
          <a:prstGeom prst="rect">
            <a:avLst/>
          </a:prstGeom>
          <a:solidFill>
            <a:srgbClr val="FF5050">
              <a:alpha val="61176"/>
            </a:srgbClr>
          </a:solidFill>
        </p:spPr>
        <p:txBody>
          <a:bodyPr wrap="square" rtlCol="0">
            <a:spAutoFit/>
          </a:bodyPr>
          <a:lstStyle/>
          <a:p>
            <a:pPr>
              <a:spcAft>
                <a:spcPts val="600"/>
              </a:spcAft>
            </a:pPr>
            <a:r>
              <a:rPr lang="en-US" sz="2000" b="1" dirty="0">
                <a:solidFill>
                  <a:schemeClr val="accent1">
                    <a:lumMod val="75000"/>
                  </a:schemeClr>
                </a:solidFill>
              </a:rPr>
              <a:t>Key findings </a:t>
            </a:r>
          </a:p>
          <a:p>
            <a:pPr>
              <a:spcAft>
                <a:spcPts val="600"/>
              </a:spcAft>
            </a:pPr>
            <a:r>
              <a:rPr lang="en-US" dirty="0"/>
              <a:t>● </a:t>
            </a:r>
            <a:r>
              <a:rPr lang="en-GB" dirty="0"/>
              <a:t>Except for the “city of London”, the number of Airbnb listings decrease radially from the central of London.</a:t>
            </a:r>
            <a:endParaRPr lang="en-US" dirty="0"/>
          </a:p>
          <a:p>
            <a:pPr>
              <a:spcAft>
                <a:spcPts val="600"/>
              </a:spcAft>
            </a:pPr>
            <a:endParaRPr lang="en-US" altLang="zh-CN" dirty="0"/>
          </a:p>
          <a:p>
            <a:pPr>
              <a:spcAft>
                <a:spcPts val="600"/>
              </a:spcAft>
            </a:pPr>
            <a:endParaRPr lang="en-US" altLang="zh-CN" dirty="0"/>
          </a:p>
          <a:p>
            <a:pPr>
              <a:spcAft>
                <a:spcPts val="600"/>
              </a:spcAft>
            </a:pPr>
            <a:endParaRPr lang="en-US" altLang="zh-CN" dirty="0"/>
          </a:p>
          <a:p>
            <a:pPr>
              <a:spcAft>
                <a:spcPts val="600"/>
              </a:spcAft>
            </a:pPr>
            <a:endParaRPr lang="en-US" altLang="zh-CN" dirty="0"/>
          </a:p>
          <a:p>
            <a:pPr>
              <a:spcAft>
                <a:spcPts val="600"/>
              </a:spcAft>
            </a:pPr>
            <a:endParaRPr lang="en-US" altLang="zh-CN" dirty="0"/>
          </a:p>
          <a:p>
            <a:pPr>
              <a:spcAft>
                <a:spcPts val="600"/>
              </a:spcAft>
            </a:pPr>
            <a:endParaRPr lang="en-US" altLang="zh-CN" dirty="0"/>
          </a:p>
          <a:p>
            <a:pPr>
              <a:spcAft>
                <a:spcPts val="600"/>
              </a:spcAft>
            </a:pPr>
            <a:endParaRPr lang="en-US" altLang="zh-CN" dirty="0"/>
          </a:p>
          <a:p>
            <a:pPr>
              <a:spcAft>
                <a:spcPts val="600"/>
              </a:spcAft>
            </a:pPr>
            <a:r>
              <a:rPr lang="en-US" dirty="0"/>
              <a:t>● </a:t>
            </a:r>
            <a:r>
              <a:rPr lang="en-GB" dirty="0"/>
              <a:t>Even though the online rental industry is developing rapidly, the highest market share Airbnb taken up in Westminster just reaches at 6.52%.</a:t>
            </a:r>
            <a:endParaRPr lang="en-US" dirty="0"/>
          </a:p>
          <a:p>
            <a:pPr>
              <a:spcAft>
                <a:spcPts val="600"/>
              </a:spcAft>
            </a:pPr>
            <a:r>
              <a:rPr lang="en-US" dirty="0"/>
              <a:t>● </a:t>
            </a:r>
            <a:r>
              <a:rPr lang="en-GB" dirty="0"/>
              <a:t>The extremely high correlation coefficient, 0.949 (maximum 1), indicates the online rental market is strongly and positively related to the local rental market, in other words, the more prevent the Airbnb is in a</a:t>
            </a:r>
            <a:endParaRPr lang="en-US" altLang="zh-CN" dirty="0"/>
          </a:p>
        </p:txBody>
      </p:sp>
      <p:pic>
        <p:nvPicPr>
          <p:cNvPr id="11" name="Picture 10">
            <a:extLst>
              <a:ext uri="{FF2B5EF4-FFF2-40B4-BE49-F238E27FC236}">
                <a16:creationId xmlns:a16="http://schemas.microsoft.com/office/drawing/2014/main" id="{B3D14A1E-2226-4867-A8F3-2959CF96B63A}"/>
              </a:ext>
            </a:extLst>
          </p:cNvPr>
          <p:cNvPicPr>
            <a:picLocks noChangeAspect="1"/>
          </p:cNvPicPr>
          <p:nvPr/>
        </p:nvPicPr>
        <p:blipFill rotWithShape="1">
          <a:blip r:embed="rId3">
            <a:extLst>
              <a:ext uri="{28A0092B-C50C-407E-A947-70E740481C1C}">
                <a14:useLocalDpi xmlns:a14="http://schemas.microsoft.com/office/drawing/2010/main" val="0"/>
              </a:ext>
            </a:extLst>
          </a:blip>
          <a:srcRect l="2339" t="11432" r="2495" b="11902"/>
          <a:stretch/>
        </p:blipFill>
        <p:spPr>
          <a:xfrm>
            <a:off x="3429000" y="3691153"/>
            <a:ext cx="2985248" cy="2325587"/>
          </a:xfrm>
          <a:prstGeom prst="rect">
            <a:avLst/>
          </a:prstGeom>
        </p:spPr>
      </p:pic>
      <p:sp>
        <p:nvSpPr>
          <p:cNvPr id="14" name="TextBox 13">
            <a:extLst>
              <a:ext uri="{FF2B5EF4-FFF2-40B4-BE49-F238E27FC236}">
                <a16:creationId xmlns:a16="http://schemas.microsoft.com/office/drawing/2014/main" id="{BB5CFF46-87E1-44D6-A2AD-FC48A46CDBD4}"/>
              </a:ext>
            </a:extLst>
          </p:cNvPr>
          <p:cNvSpPr txBox="1"/>
          <p:nvPr/>
        </p:nvSpPr>
        <p:spPr>
          <a:xfrm>
            <a:off x="3814930" y="3677706"/>
            <a:ext cx="2213387" cy="246221"/>
          </a:xfrm>
          <a:prstGeom prst="rect">
            <a:avLst/>
          </a:prstGeom>
          <a:noFill/>
        </p:spPr>
        <p:txBody>
          <a:bodyPr wrap="square" rtlCol="0">
            <a:spAutoFit/>
          </a:bodyPr>
          <a:lstStyle/>
          <a:p>
            <a:r>
              <a:rPr lang="en-US" sz="1000" b="1" dirty="0"/>
              <a:t>Distribution Pattern of Airbnb Listings </a:t>
            </a:r>
          </a:p>
        </p:txBody>
      </p:sp>
    </p:spTree>
    <p:extLst>
      <p:ext uri="{BB962C8B-B14F-4D97-AF65-F5344CB8AC3E}">
        <p14:creationId xmlns:p14="http://schemas.microsoft.com/office/powerpoint/2010/main" val="863711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31C32F-9B15-43B4-96C3-CB762C685E1E}"/>
              </a:ext>
            </a:extLst>
          </p:cNvPr>
          <p:cNvSpPr txBox="1"/>
          <p:nvPr/>
        </p:nvSpPr>
        <p:spPr>
          <a:xfrm>
            <a:off x="161364" y="210476"/>
            <a:ext cx="3267635" cy="6601807"/>
          </a:xfrm>
          <a:prstGeom prst="rect">
            <a:avLst/>
          </a:prstGeom>
          <a:solidFill>
            <a:srgbClr val="FF5050">
              <a:alpha val="61176"/>
            </a:srgbClr>
          </a:solidFill>
        </p:spPr>
        <p:txBody>
          <a:bodyPr wrap="square" rtlCol="0">
            <a:spAutoFit/>
          </a:bodyPr>
          <a:lstStyle/>
          <a:p>
            <a:pPr>
              <a:spcAft>
                <a:spcPts val="600"/>
              </a:spcAft>
            </a:pPr>
            <a:r>
              <a:rPr lang="en-GB" dirty="0"/>
              <a:t>region, the bigger the local rental market might be.</a:t>
            </a:r>
          </a:p>
          <a:p>
            <a:pPr>
              <a:spcAft>
                <a:spcPts val="600"/>
              </a:spcAft>
            </a:pPr>
            <a:endParaRPr lang="en-GB" dirty="0"/>
          </a:p>
          <a:p>
            <a:pPr>
              <a:spcAft>
                <a:spcPts val="600"/>
              </a:spcAft>
            </a:pPr>
            <a:endParaRPr lang="en-GB" dirty="0"/>
          </a:p>
          <a:p>
            <a:pPr>
              <a:spcAft>
                <a:spcPts val="600"/>
              </a:spcAft>
            </a:pPr>
            <a:endParaRPr lang="en-GB" dirty="0"/>
          </a:p>
          <a:p>
            <a:pPr>
              <a:spcAft>
                <a:spcPts val="600"/>
              </a:spcAft>
            </a:pPr>
            <a:endParaRPr lang="en-GB" dirty="0"/>
          </a:p>
          <a:p>
            <a:pPr>
              <a:spcAft>
                <a:spcPts val="600"/>
              </a:spcAft>
            </a:pPr>
            <a:endParaRPr lang="en-GB" dirty="0"/>
          </a:p>
          <a:p>
            <a:pPr>
              <a:spcAft>
                <a:spcPts val="600"/>
              </a:spcAft>
            </a:pPr>
            <a:endParaRPr lang="en-GB" dirty="0"/>
          </a:p>
          <a:p>
            <a:pPr>
              <a:spcAft>
                <a:spcPts val="600"/>
              </a:spcAft>
            </a:pPr>
            <a:endParaRPr lang="en-GB" dirty="0"/>
          </a:p>
          <a:p>
            <a:pPr>
              <a:spcAft>
                <a:spcPts val="600"/>
              </a:spcAft>
            </a:pPr>
            <a:endParaRPr lang="en-GB" dirty="0"/>
          </a:p>
          <a:p>
            <a:pPr>
              <a:spcAft>
                <a:spcPts val="600"/>
              </a:spcAft>
            </a:pPr>
            <a:r>
              <a:rPr lang="en-US" dirty="0"/>
              <a:t>● </a:t>
            </a:r>
            <a:r>
              <a:rPr lang="en-GB" dirty="0"/>
              <a:t>The impact of Airbnb on the local housing rental market is significant. Each rental housing published on Airbnb will bring additional 22.7% growth in the number of rented houses. That is to say, in theory, every 5 new housing rentals posted on Airbnb can motivates one potential property to be listed on the local rental market.</a:t>
            </a:r>
            <a:endParaRPr lang="en-US" altLang="zh-CN" dirty="0"/>
          </a:p>
        </p:txBody>
      </p:sp>
      <p:pic>
        <p:nvPicPr>
          <p:cNvPr id="5" name="Picture 4">
            <a:extLst>
              <a:ext uri="{FF2B5EF4-FFF2-40B4-BE49-F238E27FC236}">
                <a16:creationId xmlns:a16="http://schemas.microsoft.com/office/drawing/2014/main" id="{E86A1EB1-0A93-42C4-B075-0380EBF9B09F}"/>
              </a:ext>
            </a:extLst>
          </p:cNvPr>
          <p:cNvPicPr>
            <a:picLocks noChangeAspect="1"/>
          </p:cNvPicPr>
          <p:nvPr/>
        </p:nvPicPr>
        <p:blipFill rotWithShape="1">
          <a:blip r:embed="rId2">
            <a:extLst>
              <a:ext uri="{28A0092B-C50C-407E-A947-70E740481C1C}">
                <a14:useLocalDpi xmlns:a14="http://schemas.microsoft.com/office/drawing/2010/main" val="0"/>
              </a:ext>
            </a:extLst>
          </a:blip>
          <a:srcRect l="-4730" t="6467" r="-4730" b="-1028"/>
          <a:stretch/>
        </p:blipFill>
        <p:spPr>
          <a:xfrm>
            <a:off x="161364" y="898658"/>
            <a:ext cx="3267635" cy="2729754"/>
          </a:xfrm>
          <a:prstGeom prst="rect">
            <a:avLst/>
          </a:prstGeom>
        </p:spPr>
      </p:pic>
      <p:sp>
        <p:nvSpPr>
          <p:cNvPr id="6" name="TextBox 5">
            <a:extLst>
              <a:ext uri="{FF2B5EF4-FFF2-40B4-BE49-F238E27FC236}">
                <a16:creationId xmlns:a16="http://schemas.microsoft.com/office/drawing/2014/main" id="{6D39EBDC-79D2-4E48-8A9E-190561F1C176}"/>
              </a:ext>
            </a:extLst>
          </p:cNvPr>
          <p:cNvSpPr txBox="1"/>
          <p:nvPr/>
        </p:nvSpPr>
        <p:spPr>
          <a:xfrm>
            <a:off x="584946" y="898658"/>
            <a:ext cx="2696136" cy="400110"/>
          </a:xfrm>
          <a:prstGeom prst="rect">
            <a:avLst/>
          </a:prstGeom>
          <a:noFill/>
        </p:spPr>
        <p:txBody>
          <a:bodyPr wrap="square" rtlCol="0">
            <a:spAutoFit/>
          </a:bodyPr>
          <a:lstStyle/>
          <a:p>
            <a:r>
              <a:rPr lang="en-US" sz="1000" dirty="0"/>
              <a:t>The correlation between Airbnb listings and local rental market</a:t>
            </a:r>
          </a:p>
        </p:txBody>
      </p:sp>
      <p:sp>
        <p:nvSpPr>
          <p:cNvPr id="8" name="TextBox 7">
            <a:extLst>
              <a:ext uri="{FF2B5EF4-FFF2-40B4-BE49-F238E27FC236}">
                <a16:creationId xmlns:a16="http://schemas.microsoft.com/office/drawing/2014/main" id="{4EB9FBB8-C6A6-40D7-9FD3-4EDB85386533}"/>
              </a:ext>
            </a:extLst>
          </p:cNvPr>
          <p:cNvSpPr txBox="1"/>
          <p:nvPr/>
        </p:nvSpPr>
        <p:spPr>
          <a:xfrm>
            <a:off x="3536576" y="210476"/>
            <a:ext cx="3160060" cy="6447919"/>
          </a:xfrm>
          <a:prstGeom prst="rect">
            <a:avLst/>
          </a:prstGeom>
          <a:noFill/>
        </p:spPr>
        <p:txBody>
          <a:bodyPr wrap="square" rtlCol="0">
            <a:spAutoFit/>
          </a:bodyPr>
          <a:lstStyle/>
          <a:p>
            <a:pPr>
              <a:spcAft>
                <a:spcPts val="600"/>
              </a:spcAft>
            </a:pPr>
            <a:r>
              <a:rPr lang="en-US" sz="2000" b="1" dirty="0">
                <a:solidFill>
                  <a:schemeClr val="accent1">
                    <a:lumMod val="75000"/>
                  </a:schemeClr>
                </a:solidFill>
              </a:rPr>
              <a:t>Policy Implication</a:t>
            </a:r>
          </a:p>
          <a:p>
            <a:pPr>
              <a:spcAft>
                <a:spcPts val="600"/>
              </a:spcAft>
            </a:pPr>
            <a:r>
              <a:rPr lang="en-US" dirty="0"/>
              <a:t>● </a:t>
            </a:r>
            <a:r>
              <a:rPr lang="en-US" altLang="zh-CN" dirty="0"/>
              <a:t>The </a:t>
            </a:r>
            <a:r>
              <a:rPr lang="en-GB" dirty="0"/>
              <a:t>Monitoring on the </a:t>
            </a:r>
            <a:r>
              <a:rPr lang="en-US" altLang="zh-CN" dirty="0"/>
              <a:t>online</a:t>
            </a:r>
            <a:r>
              <a:rPr lang="en-GB" dirty="0"/>
              <a:t> rental market is indispensable. Because the online rental market does have an impact on the traditional rental market.</a:t>
            </a:r>
          </a:p>
          <a:p>
            <a:pPr>
              <a:spcAft>
                <a:spcPts val="600"/>
              </a:spcAft>
            </a:pPr>
            <a:r>
              <a:rPr lang="en-US" dirty="0"/>
              <a:t>● </a:t>
            </a:r>
            <a:r>
              <a:rPr lang="en-GB" dirty="0"/>
              <a:t>Although the online rental market </a:t>
            </a:r>
            <a:r>
              <a:rPr lang="en-US" altLang="zh-CN" dirty="0"/>
              <a:t>size </a:t>
            </a:r>
            <a:r>
              <a:rPr lang="en-GB" dirty="0"/>
              <a:t>is far less than mainstream market, as its scale is keeping expanding, the relevant policy needs to be properly formulated in time, especially in terms of taxation.</a:t>
            </a:r>
          </a:p>
          <a:p>
            <a:pPr>
              <a:spcAft>
                <a:spcPts val="600"/>
              </a:spcAft>
            </a:pPr>
            <a:r>
              <a:rPr lang="en-US" dirty="0"/>
              <a:t>● </a:t>
            </a:r>
            <a:r>
              <a:rPr lang="en-GB" altLang="zh-CN" dirty="0"/>
              <a:t>Under the current size of the online rental market, it is quite helpful to promote the performance of the local housing rental market, in </a:t>
            </a:r>
            <a:r>
              <a:rPr lang="en-GB" altLang="zh-CN"/>
              <a:t>other words, </a:t>
            </a:r>
            <a:r>
              <a:rPr lang="en-GB" altLang="zh-CN" dirty="0"/>
              <a:t>online rentals can be appropriately encouraged in areas where it is not popular yet.</a:t>
            </a:r>
            <a:endParaRPr lang="en-US" dirty="0"/>
          </a:p>
        </p:txBody>
      </p:sp>
      <p:pic>
        <p:nvPicPr>
          <p:cNvPr id="9" name="Picture 8">
            <a:extLst>
              <a:ext uri="{FF2B5EF4-FFF2-40B4-BE49-F238E27FC236}">
                <a16:creationId xmlns:a16="http://schemas.microsoft.com/office/drawing/2014/main" id="{53942C6C-D125-4A61-919C-93AFAB38C818}"/>
              </a:ext>
            </a:extLst>
          </p:cNvPr>
          <p:cNvPicPr>
            <a:picLocks noChangeAspect="1"/>
          </p:cNvPicPr>
          <p:nvPr/>
        </p:nvPicPr>
        <p:blipFill>
          <a:blip r:embed="rId3"/>
          <a:stretch>
            <a:fillRect/>
          </a:stretch>
        </p:blipFill>
        <p:spPr>
          <a:xfrm>
            <a:off x="0" y="9701353"/>
            <a:ext cx="6858000" cy="153847"/>
          </a:xfrm>
          <a:prstGeom prst="rect">
            <a:avLst/>
          </a:prstGeom>
        </p:spPr>
      </p:pic>
      <p:sp>
        <p:nvSpPr>
          <p:cNvPr id="10" name="TextBox 9">
            <a:extLst>
              <a:ext uri="{FF2B5EF4-FFF2-40B4-BE49-F238E27FC236}">
                <a16:creationId xmlns:a16="http://schemas.microsoft.com/office/drawing/2014/main" id="{962CC65E-FCE8-4349-9E22-6F6DA3472FE4}"/>
              </a:ext>
            </a:extLst>
          </p:cNvPr>
          <p:cNvSpPr txBox="1"/>
          <p:nvPr/>
        </p:nvSpPr>
        <p:spPr>
          <a:xfrm>
            <a:off x="161364" y="7919077"/>
            <a:ext cx="6535273" cy="1585049"/>
          </a:xfrm>
          <a:prstGeom prst="rect">
            <a:avLst/>
          </a:prstGeom>
          <a:noFill/>
        </p:spPr>
        <p:txBody>
          <a:bodyPr wrap="square" rtlCol="0">
            <a:spAutoFit/>
          </a:bodyPr>
          <a:lstStyle/>
          <a:p>
            <a:pPr>
              <a:spcAft>
                <a:spcPts val="600"/>
              </a:spcAft>
            </a:pPr>
            <a:r>
              <a:rPr lang="en-US" sz="2000" dirty="0">
                <a:solidFill>
                  <a:schemeClr val="accent1">
                    <a:lumMod val="75000"/>
                  </a:schemeClr>
                </a:solidFill>
              </a:rPr>
              <a:t>Key references and resources:</a:t>
            </a:r>
            <a:endParaRPr lang="en-US" dirty="0"/>
          </a:p>
          <a:p>
            <a:pPr>
              <a:spcAft>
                <a:spcPts val="600"/>
              </a:spcAft>
            </a:pPr>
            <a:r>
              <a:rPr lang="en-US" dirty="0" err="1"/>
              <a:t>Wachsmuth</a:t>
            </a:r>
            <a:r>
              <a:rPr lang="en-US" dirty="0"/>
              <a:t>, D. and </a:t>
            </a:r>
            <a:r>
              <a:rPr lang="en-US" dirty="0" err="1"/>
              <a:t>Weisler</a:t>
            </a:r>
            <a:r>
              <a:rPr lang="en-US" dirty="0"/>
              <a:t>, A. (2018) ‘Airbnb and the rent gap: Gentrification through the sharing economy’, </a:t>
            </a:r>
            <a:r>
              <a:rPr lang="en-US" i="1" dirty="0"/>
              <a:t>Environment and Planning A: Economy and Space</a:t>
            </a:r>
            <a:r>
              <a:rPr lang="en-US" dirty="0"/>
              <a:t>, 50(6), pp. 1147–1170. </a:t>
            </a:r>
            <a:r>
              <a:rPr lang="en-US" dirty="0" err="1"/>
              <a:t>doi</a:t>
            </a:r>
            <a:r>
              <a:rPr lang="en-US" dirty="0"/>
              <a:t>: 10.1177/0308518X18778038.</a:t>
            </a:r>
          </a:p>
        </p:txBody>
      </p:sp>
    </p:spTree>
    <p:extLst>
      <p:ext uri="{BB962C8B-B14F-4D97-AF65-F5344CB8AC3E}">
        <p14:creationId xmlns:p14="http://schemas.microsoft.com/office/powerpoint/2010/main" val="7477064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354</TotalTime>
  <Words>484</Words>
  <Application>Microsoft Office PowerPoint</Application>
  <PresentationFormat>A4 Paper (210x297 mm)</PresentationFormat>
  <Paragraphs>34</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等线</vt: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Luo, Tianyu</dc:creator>
  <cp:lastModifiedBy>Luo, Tianyu</cp:lastModifiedBy>
  <cp:revision>31</cp:revision>
  <dcterms:created xsi:type="dcterms:W3CDTF">2019-03-10T12:13:10Z</dcterms:created>
  <dcterms:modified xsi:type="dcterms:W3CDTF">2019-03-18T15:05:41Z</dcterms:modified>
</cp:coreProperties>
</file>